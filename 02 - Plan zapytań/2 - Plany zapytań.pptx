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77" r:id="rId3"/>
    <p:sldId id="278" r:id="rId4"/>
    <p:sldId id="257" r:id="rId5"/>
    <p:sldId id="276" r:id="rId6"/>
    <p:sldId id="275" r:id="rId7"/>
    <p:sldId id="279" r:id="rId8"/>
    <p:sldId id="280" r:id="rId9"/>
    <p:sldId id="281" r:id="rId10"/>
    <p:sldId id="282" r:id="rId11"/>
    <p:sldId id="283" r:id="rId12"/>
    <p:sldId id="284" r:id="rId13"/>
    <p:sldId id="285" r:id="rId14"/>
    <p:sldId id="259" r:id="rId15"/>
    <p:sldId id="258" r:id="rId16"/>
    <p:sldId id="260" r:id="rId17"/>
    <p:sldId id="272" r:id="rId18"/>
    <p:sldId id="261" r:id="rId19"/>
    <p:sldId id="262" r:id="rId20"/>
    <p:sldId id="273" r:id="rId21"/>
    <p:sldId id="263" r:id="rId22"/>
    <p:sldId id="264" r:id="rId23"/>
    <p:sldId id="286" r:id="rId24"/>
    <p:sldId id="265" r:id="rId25"/>
    <p:sldId id="266" r:id="rId26"/>
    <p:sldId id="274" r:id="rId27"/>
    <p:sldId id="267" r:id="rId28"/>
    <p:sldId id="268" r:id="rId29"/>
    <p:sldId id="269" r:id="rId30"/>
    <p:sldId id="270" r:id="rId31"/>
    <p:sldId id="271"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25" d="100"/>
          <a:sy n="125" d="100"/>
        </p:scale>
        <p:origin x="737" y="2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zemyslaw Starosta" userId="45f988447864b3e6" providerId="LiveId" clId="{F03EAEFD-908B-4458-9CFE-E641CAF539F5}"/>
    <pc:docChg chg="undo custSel modSld">
      <pc:chgData name="Przemyslaw Starosta" userId="45f988447864b3e6" providerId="LiveId" clId="{F03EAEFD-908B-4458-9CFE-E641CAF539F5}" dt="2026-01-14T13:01:40.606" v="36" actId="20577"/>
      <pc:docMkLst>
        <pc:docMk/>
      </pc:docMkLst>
      <pc:sldChg chg="modSp mod">
        <pc:chgData name="Przemyslaw Starosta" userId="45f988447864b3e6" providerId="LiveId" clId="{F03EAEFD-908B-4458-9CFE-E641CAF539F5}" dt="2026-01-14T13:01:40.606" v="36" actId="20577"/>
        <pc:sldMkLst>
          <pc:docMk/>
          <pc:sldMk cId="873540532" sldId="257"/>
        </pc:sldMkLst>
        <pc:spChg chg="mod">
          <ac:chgData name="Przemyslaw Starosta" userId="45f988447864b3e6" providerId="LiveId" clId="{F03EAEFD-908B-4458-9CFE-E641CAF539F5}" dt="2026-01-14T13:01:40.606" v="36" actId="20577"/>
          <ac:spMkLst>
            <pc:docMk/>
            <pc:sldMk cId="873540532" sldId="257"/>
            <ac:spMk id="3" creationId="{AD8E9BBF-A55D-4C50-9C86-D226AA6FCBAF}"/>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ajd tytułowy">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pl-PL"/>
          </a:p>
        </p:txBody>
      </p:sp>
      <p:sp>
        <p:nvSpPr>
          <p:cNvPr id="8" name="Rectangle 7"/>
          <p:cNvSpPr/>
          <p:nvPr/>
        </p:nvSpPr>
        <p:spPr>
          <a:xfrm>
            <a:off x="9270263" y="761999"/>
            <a:ext cx="2925318" cy="5334001"/>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pl-PL"/>
          </a:p>
        </p:txBody>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pl-PL"/>
              <a:t>Kliknij, aby edytować styl</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pl-PL"/>
              <a:t>Kliknij, aby edytować styl wzorca podtytułu</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1/14/2026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dirty="0"/>
          </a:p>
        </p:txBody>
      </p:sp>
      <p:sp>
        <p:nvSpPr>
          <p:cNvPr id="3" name="Content Placeholder 2"/>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1/14/2026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2">
                    <a:lumMod val="75000"/>
                  </a:schemeClr>
                </a:solidFill>
              </a:defRPr>
            </a:lvl1pPr>
          </a:lstStyle>
          <a:p>
            <a:r>
              <a:rPr lang="pl-PL"/>
              <a:t>Kliknij, aby edytować styl</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l-PL"/>
              <a:t>Kliknij, aby edytować style wzorca tekstu</a:t>
            </a:r>
          </a:p>
        </p:txBody>
      </p:sp>
      <p:sp>
        <p:nvSpPr>
          <p:cNvPr id="4" name="Date Placeholder 3"/>
          <p:cNvSpPr>
            <a:spLocks noGrp="1"/>
          </p:cNvSpPr>
          <p:nvPr>
            <p:ph type="dt" sz="half" idx="10"/>
          </p:nvPr>
        </p:nvSpPr>
        <p:spPr/>
        <p:txBody>
          <a:bodyPr/>
          <a:lstStyle/>
          <a:p>
            <a:fld id="{5586B75A-687E-405C-8A0B-8D00578BA2C3}" type="datetimeFigureOut">
              <a:rPr lang="en-US" dirty="0"/>
              <a:pPr/>
              <a:t>1/14/2026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8" name="Date Placeholder 7"/>
          <p:cNvSpPr>
            <a:spLocks noGrp="1"/>
          </p:cNvSpPr>
          <p:nvPr>
            <p:ph type="dt" sz="half" idx="10"/>
          </p:nvPr>
        </p:nvSpPr>
        <p:spPr/>
        <p:txBody>
          <a:bodyPr/>
          <a:lstStyle/>
          <a:p>
            <a:fld id="{5586B75A-687E-405C-8A0B-8D00578BA2C3}" type="datetimeFigureOut">
              <a:rPr lang="en-US" dirty="0"/>
              <a:pPr/>
              <a:t>1/14/2026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pl-PL"/>
              <a:t>Kliknij, aby edytować styl</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1/14/2026</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pl-PL"/>
              <a:t>Kliknij, aby edytować styl</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1/14/2026</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Pusty">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dirty="0"/>
              <a:pPr/>
              <a:t>1/14/2026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pl-PL"/>
              <a:t>Kliknij, aby edytować styl</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8" name="Date Placeholder 7"/>
          <p:cNvSpPr>
            <a:spLocks noGrp="1"/>
          </p:cNvSpPr>
          <p:nvPr>
            <p:ph type="dt" sz="half" idx="10"/>
          </p:nvPr>
        </p:nvSpPr>
        <p:spPr/>
        <p:txBody>
          <a:bodyPr/>
          <a:lstStyle/>
          <a:p>
            <a:fld id="{5586B75A-687E-405C-8A0B-8D00578BA2C3}" type="datetimeFigureOut">
              <a:rPr lang="en-US" dirty="0"/>
              <a:pPr/>
              <a:t>1/14/2026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pl-PL"/>
              <a:t>Kliknij, aby edytować styl</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l-PL"/>
              <a:t>Kliknij ikonę, aby dodać obraz</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8" name="Date Placeholder 7"/>
          <p:cNvSpPr>
            <a:spLocks noGrp="1"/>
          </p:cNvSpPr>
          <p:nvPr>
            <p:ph type="dt" sz="half" idx="10"/>
          </p:nvPr>
        </p:nvSpPr>
        <p:spPr/>
        <p:txBody>
          <a:bodyPr/>
          <a:lstStyle/>
          <a:p>
            <a:fld id="{5586B75A-687E-405C-8A0B-8D00578BA2C3}" type="datetimeFigureOut">
              <a:rPr lang="en-US" dirty="0"/>
              <a:pPr/>
              <a:t>1/14/2026</a:t>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dirty="0"/>
          </a:p>
        </p:txBody>
      </p:sp>
      <p:sp>
        <p:nvSpPr>
          <p:cNvPr id="3" name="Vertical Text Placeholder 2"/>
          <p:cNvSpPr>
            <a:spLocks noGrp="1"/>
          </p:cNvSpPr>
          <p:nvPr>
            <p:ph type="body" orient="vert" idx="1"/>
          </p:nvPr>
        </p:nvSpPr>
        <p:spPr/>
        <p:txBody>
          <a:bodyPr vert="eaVert" ancho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1/14/2026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pl-PL"/>
              <a:t>Kliknij, aby edytować styl</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1/14/2026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pl-PL"/>
          </a:p>
        </p:txBody>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pl-PL"/>
              <a:t>Kliknij, aby edytować styl</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pl-PL"/>
          </a:p>
        </p:txBody>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5586B75A-687E-405C-8A0B-8D00578BA2C3}" type="datetimeFigureOut">
              <a:rPr lang="en-US" dirty="0"/>
              <a:pPr/>
              <a:t>1/14/2026</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75000"/>
              <a:lumOff val="2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75000"/>
              <a:lumOff val="2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75000"/>
              <a:lumOff val="2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42C04C6-72B9-4B2D-832F-6C1420567D4C}"/>
              </a:ext>
            </a:extLst>
          </p:cNvPr>
          <p:cNvSpPr>
            <a:spLocks noGrp="1"/>
          </p:cNvSpPr>
          <p:nvPr>
            <p:ph type="ctrTitle"/>
          </p:nvPr>
        </p:nvSpPr>
        <p:spPr/>
        <p:txBody>
          <a:bodyPr/>
          <a:lstStyle/>
          <a:p>
            <a:r>
              <a:rPr lang="pl-PL" dirty="0"/>
              <a:t>Plany zapytań</a:t>
            </a:r>
          </a:p>
        </p:txBody>
      </p:sp>
      <p:sp>
        <p:nvSpPr>
          <p:cNvPr id="3" name="Podtytuł 2">
            <a:extLst>
              <a:ext uri="{FF2B5EF4-FFF2-40B4-BE49-F238E27FC236}">
                <a16:creationId xmlns:a16="http://schemas.microsoft.com/office/drawing/2014/main" id="{87C6B3B6-AFB0-45AE-8BA8-96E9298EE4E9}"/>
              </a:ext>
            </a:extLst>
          </p:cNvPr>
          <p:cNvSpPr>
            <a:spLocks noGrp="1"/>
          </p:cNvSpPr>
          <p:nvPr>
            <p:ph type="subTitle" idx="1"/>
          </p:nvPr>
        </p:nvSpPr>
        <p:spPr/>
        <p:txBody>
          <a:bodyPr/>
          <a:lstStyle/>
          <a:p>
            <a:r>
              <a:rPr lang="pl-PL" dirty="0"/>
              <a:t>SQL Server</a:t>
            </a:r>
          </a:p>
        </p:txBody>
      </p:sp>
    </p:spTree>
    <p:extLst>
      <p:ext uri="{BB962C8B-B14F-4D97-AF65-F5344CB8AC3E}">
        <p14:creationId xmlns:p14="http://schemas.microsoft.com/office/powerpoint/2010/main" val="2629494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16687-A1B9-86FF-2A7D-1A8C38131479}"/>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AE636E6F-66A1-4D8E-089B-17EA39AC3155}"/>
              </a:ext>
            </a:extLst>
          </p:cNvPr>
          <p:cNvSpPr>
            <a:spLocks noGrp="1"/>
          </p:cNvSpPr>
          <p:nvPr>
            <p:ph type="title"/>
          </p:nvPr>
        </p:nvSpPr>
        <p:spPr/>
        <p:txBody>
          <a:bodyPr/>
          <a:lstStyle/>
          <a:p>
            <a:r>
              <a:rPr lang="pl-PL" dirty="0"/>
              <a:t>Tryby przetwarzania</a:t>
            </a:r>
          </a:p>
        </p:txBody>
      </p:sp>
      <p:sp>
        <p:nvSpPr>
          <p:cNvPr id="3" name="Symbol zastępczy zawartości 2">
            <a:extLst>
              <a:ext uri="{FF2B5EF4-FFF2-40B4-BE49-F238E27FC236}">
                <a16:creationId xmlns:a16="http://schemas.microsoft.com/office/drawing/2014/main" id="{1BC47986-4A24-FF7C-2651-82AB64136E9E}"/>
              </a:ext>
            </a:extLst>
          </p:cNvPr>
          <p:cNvSpPr>
            <a:spLocks noGrp="1"/>
          </p:cNvSpPr>
          <p:nvPr>
            <p:ph idx="1"/>
          </p:nvPr>
        </p:nvSpPr>
        <p:spPr>
          <a:xfrm>
            <a:off x="3654115" y="864107"/>
            <a:ext cx="7750006" cy="5120640"/>
          </a:xfrm>
        </p:spPr>
        <p:txBody>
          <a:bodyPr anchor="t">
            <a:normAutofit/>
          </a:bodyPr>
          <a:lstStyle/>
          <a:p>
            <a:r>
              <a:rPr lang="pl-PL" dirty="0"/>
              <a:t>Silnik bazy danych SQL Server przetwarza zapytania w różnych architekturach przechowywania danych, takich jak tabele lokalne, tabele partycjonowane i tabele rozproszone na wielu serwerach. </a:t>
            </a:r>
          </a:p>
          <a:p>
            <a:r>
              <a:rPr lang="pl-PL" b="1" dirty="0"/>
              <a:t>Tryby przetwarzania</a:t>
            </a:r>
          </a:p>
          <a:p>
            <a:pPr lvl="1"/>
            <a:r>
              <a:rPr lang="pl-PL" dirty="0" err="1"/>
              <a:t>Row</a:t>
            </a:r>
            <a:r>
              <a:rPr lang="pl-PL" dirty="0"/>
              <a:t> </a:t>
            </a:r>
            <a:r>
              <a:rPr lang="pl-PL" dirty="0" err="1"/>
              <a:t>mode</a:t>
            </a:r>
            <a:r>
              <a:rPr lang="pl-PL" dirty="0"/>
              <a:t> </a:t>
            </a:r>
            <a:r>
              <a:rPr lang="pl-PL" dirty="0" err="1"/>
              <a:t>execution</a:t>
            </a:r>
            <a:endParaRPr lang="pl-PL" dirty="0"/>
          </a:p>
          <a:p>
            <a:pPr lvl="2"/>
            <a:r>
              <a:rPr lang="pl-PL" dirty="0"/>
              <a:t> to metoda przetwarzania zapytań używana z tradycyjnymi tabelami RDBMS, w których dane są przechowywane w formacie wierszowym. </a:t>
            </a:r>
          </a:p>
          <a:p>
            <a:pPr lvl="2"/>
            <a:r>
              <a:rPr lang="pl-PL" dirty="0"/>
              <a:t>Gdy zapytanie jest wykonywane i uzyskuje dostęp do danych w tabelach przechowywania wierszy, operatory drzewa wykonania i operatory podrzędne odczytują każdy wymagany wiersz, we wszystkich kolumnach określonych w schemacie tabeli. </a:t>
            </a:r>
          </a:p>
          <a:p>
            <a:pPr lvl="2"/>
            <a:r>
              <a:rPr lang="pl-PL" dirty="0"/>
              <a:t>Z każdego odczytanego wiersza SQL Server pobiera następnie kolumny wymagane dla zestawu wyników, do których odwołuje się instrukcja SELECT, predykat JOIN lub predykat filtrowania</a:t>
            </a:r>
          </a:p>
          <a:p>
            <a:pPr lvl="2"/>
            <a:r>
              <a:rPr lang="pl-PL" dirty="0"/>
              <a:t>Wykonywanie w trybie wierszowym jest bardzo wydajne w scenariuszach OLTP, ale może być mniej wydajne podczas skanowania dużych ilości danych, na przykład w scenariuszach hurtowni danych.</a:t>
            </a:r>
          </a:p>
          <a:p>
            <a:pPr marL="502920" lvl="1" indent="0">
              <a:buNone/>
            </a:pPr>
            <a:endParaRPr lang="pl-PL" dirty="0"/>
          </a:p>
        </p:txBody>
      </p:sp>
      <p:sp>
        <p:nvSpPr>
          <p:cNvPr id="4" name="Strzałka: w prawo 3">
            <a:extLst>
              <a:ext uri="{FF2B5EF4-FFF2-40B4-BE49-F238E27FC236}">
                <a16:creationId xmlns:a16="http://schemas.microsoft.com/office/drawing/2014/main" id="{76722F8E-3881-FCED-FDD3-067F07CA24B0}"/>
              </a:ext>
            </a:extLst>
          </p:cNvPr>
          <p:cNvSpPr/>
          <p:nvPr/>
        </p:nvSpPr>
        <p:spPr>
          <a:xfrm>
            <a:off x="9325155" y="5725020"/>
            <a:ext cx="1587260" cy="4946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Tree>
    <p:extLst>
      <p:ext uri="{BB962C8B-B14F-4D97-AF65-F5344CB8AC3E}">
        <p14:creationId xmlns:p14="http://schemas.microsoft.com/office/powerpoint/2010/main" val="14738574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16687-A1B9-86FF-2A7D-1A8C38131479}"/>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AE636E6F-66A1-4D8E-089B-17EA39AC3155}"/>
              </a:ext>
            </a:extLst>
          </p:cNvPr>
          <p:cNvSpPr>
            <a:spLocks noGrp="1"/>
          </p:cNvSpPr>
          <p:nvPr>
            <p:ph type="title"/>
          </p:nvPr>
        </p:nvSpPr>
        <p:spPr/>
        <p:txBody>
          <a:bodyPr/>
          <a:lstStyle/>
          <a:p>
            <a:r>
              <a:rPr lang="pl-PL" dirty="0"/>
              <a:t>Tryby przetwarzania</a:t>
            </a:r>
          </a:p>
        </p:txBody>
      </p:sp>
      <p:sp>
        <p:nvSpPr>
          <p:cNvPr id="3" name="Symbol zastępczy zawartości 2">
            <a:extLst>
              <a:ext uri="{FF2B5EF4-FFF2-40B4-BE49-F238E27FC236}">
                <a16:creationId xmlns:a16="http://schemas.microsoft.com/office/drawing/2014/main" id="{1BC47986-4A24-FF7C-2651-82AB64136E9E}"/>
              </a:ext>
            </a:extLst>
          </p:cNvPr>
          <p:cNvSpPr>
            <a:spLocks noGrp="1"/>
          </p:cNvSpPr>
          <p:nvPr>
            <p:ph idx="1"/>
          </p:nvPr>
        </p:nvSpPr>
        <p:spPr>
          <a:xfrm>
            <a:off x="3654115" y="864107"/>
            <a:ext cx="7750006" cy="5120640"/>
          </a:xfrm>
        </p:spPr>
        <p:txBody>
          <a:bodyPr anchor="t">
            <a:normAutofit/>
          </a:bodyPr>
          <a:lstStyle/>
          <a:p>
            <a:r>
              <a:rPr lang="pl-PL" b="1" dirty="0"/>
              <a:t>Tryby przetwarzania</a:t>
            </a:r>
          </a:p>
          <a:p>
            <a:pPr lvl="1"/>
            <a:r>
              <a:rPr lang="pl-PL" dirty="0" err="1"/>
              <a:t>Batch</a:t>
            </a:r>
            <a:r>
              <a:rPr lang="pl-PL" dirty="0"/>
              <a:t> </a:t>
            </a:r>
            <a:r>
              <a:rPr lang="pl-PL" dirty="0" err="1"/>
              <a:t>mode</a:t>
            </a:r>
            <a:r>
              <a:rPr lang="pl-PL" dirty="0"/>
              <a:t> </a:t>
            </a:r>
            <a:r>
              <a:rPr lang="pl-PL" dirty="0" err="1"/>
              <a:t>execution</a:t>
            </a:r>
            <a:endParaRPr lang="pl-PL" dirty="0"/>
          </a:p>
          <a:p>
            <a:pPr lvl="2"/>
            <a:r>
              <a:rPr lang="pl-PL" dirty="0"/>
              <a:t>jest metodą przetwarzania zapytań używaną do przetwarzania wielu wierszy razem (stąd termin </a:t>
            </a:r>
            <a:r>
              <a:rPr lang="pl-PL" dirty="0" err="1"/>
              <a:t>batch</a:t>
            </a:r>
            <a:r>
              <a:rPr lang="pl-PL" dirty="0"/>
              <a:t>(wsad)). </a:t>
            </a:r>
          </a:p>
          <a:p>
            <a:pPr lvl="2"/>
            <a:r>
              <a:rPr lang="pl-PL" dirty="0"/>
              <a:t>Każda kolumna w partii jest przechowywana jako wektor w oddzielnym obszarze pamięci, więc przetwarzanie w trybie wsadowym jest oparte na wektorach. </a:t>
            </a:r>
          </a:p>
          <a:p>
            <a:pPr lvl="2"/>
            <a:r>
              <a:rPr lang="pl-PL" dirty="0"/>
              <a:t>wykorzystuje również algorytmy zoptymalizowane pod kątem wielordzeniowych procesorów i zwiększonej przepustowości pamięci, które można znaleźć na nowoczesnym sprzęcie</a:t>
            </a:r>
          </a:p>
          <a:p>
            <a:pPr lvl="2"/>
            <a:r>
              <a:rPr lang="pl-PL" dirty="0"/>
              <a:t>począwszy od SQL Server 2019 (15.x) i </a:t>
            </a:r>
            <a:r>
              <a:rPr lang="pl-PL" dirty="0" err="1"/>
              <a:t>Azure</a:t>
            </a:r>
            <a:r>
              <a:rPr lang="pl-PL" dirty="0"/>
              <a:t> SQL Database, wykonywanie w trybie wsadowym nie wymaga już indeksów magazynu kolumn</a:t>
            </a:r>
          </a:p>
          <a:p>
            <a:pPr lvl="2"/>
            <a:r>
              <a:rPr lang="pl-PL" dirty="0"/>
              <a:t>działa na skompresowanych danych, gdy jest to możliwe, i eliminuje operator wymiany(</a:t>
            </a:r>
            <a:r>
              <a:rPr lang="pl-PL" dirty="0" err="1"/>
              <a:t>Parallelism</a:t>
            </a:r>
            <a:r>
              <a:rPr lang="pl-PL" dirty="0"/>
              <a:t>) używany w trybie wierszowym. Rezultatem jest lepsza równoległość i wyższa wydajność.</a:t>
            </a:r>
          </a:p>
          <a:p>
            <a:pPr lvl="2"/>
            <a:r>
              <a:rPr lang="pl-PL" dirty="0"/>
              <a:t>Gdy zapytanie jest wykonywane w trybie wsadowym i uzyskuje dostęp do danych w indeksach magazynu kolumn, operatory drzewa wykonania i operatory podrzędne odczytują wiele wierszy razem w segmentach kolumn. SQL Server odczytuje tylko kolumny wymagane dla wyniku, do których odwołuje się instrukcja SELECT, predykat JOIN lub predykat filtru.</a:t>
            </a:r>
          </a:p>
          <a:p>
            <a:pPr lvl="2"/>
            <a:endParaRPr lang="pl-PL" dirty="0"/>
          </a:p>
          <a:p>
            <a:pPr lvl="2"/>
            <a:endParaRPr lang="pl-PL" dirty="0"/>
          </a:p>
          <a:p>
            <a:pPr lvl="1"/>
            <a:endParaRPr lang="pl-PL" dirty="0"/>
          </a:p>
        </p:txBody>
      </p:sp>
    </p:spTree>
    <p:extLst>
      <p:ext uri="{BB962C8B-B14F-4D97-AF65-F5344CB8AC3E}">
        <p14:creationId xmlns:p14="http://schemas.microsoft.com/office/powerpoint/2010/main" val="29963355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B06E5A1-8B64-44F0-9F61-990F78D1FF6F}"/>
              </a:ext>
            </a:extLst>
          </p:cNvPr>
          <p:cNvSpPr>
            <a:spLocks noGrp="1"/>
          </p:cNvSpPr>
          <p:nvPr>
            <p:ph type="title"/>
          </p:nvPr>
        </p:nvSpPr>
        <p:spPr/>
        <p:txBody>
          <a:bodyPr/>
          <a:lstStyle/>
          <a:p>
            <a:r>
              <a:rPr lang="pl-PL" dirty="0"/>
              <a:t>Przetwarzanie zapytań</a:t>
            </a:r>
          </a:p>
        </p:txBody>
      </p:sp>
      <p:sp>
        <p:nvSpPr>
          <p:cNvPr id="3" name="Symbol zastępczy zawartości 2">
            <a:extLst>
              <a:ext uri="{FF2B5EF4-FFF2-40B4-BE49-F238E27FC236}">
                <a16:creationId xmlns:a16="http://schemas.microsoft.com/office/drawing/2014/main" id="{AD8E9BBF-A55D-4C50-9C86-D226AA6FCBAF}"/>
              </a:ext>
            </a:extLst>
          </p:cNvPr>
          <p:cNvSpPr>
            <a:spLocks noGrp="1"/>
          </p:cNvSpPr>
          <p:nvPr>
            <p:ph idx="1"/>
          </p:nvPr>
        </p:nvSpPr>
        <p:spPr>
          <a:xfrm>
            <a:off x="3654115" y="864107"/>
            <a:ext cx="3479930" cy="5120640"/>
          </a:xfrm>
        </p:spPr>
        <p:txBody>
          <a:bodyPr anchor="t">
            <a:normAutofit fontScale="92500" lnSpcReduction="20000"/>
          </a:bodyPr>
          <a:lstStyle/>
          <a:p>
            <a:r>
              <a:rPr lang="pl-PL" b="1" dirty="0"/>
              <a:t>Parsowanie</a:t>
            </a:r>
          </a:p>
          <a:p>
            <a:pPr lvl="1"/>
            <a:r>
              <a:rPr lang="pl-PL" dirty="0"/>
              <a:t>Sprawdzanie składni</a:t>
            </a:r>
          </a:p>
          <a:p>
            <a:pPr lvl="1"/>
            <a:r>
              <a:rPr lang="pl-PL" dirty="0"/>
              <a:t>Tworzenie drzewa parsowania</a:t>
            </a:r>
          </a:p>
          <a:p>
            <a:r>
              <a:rPr lang="pl-PL" b="1" dirty="0"/>
              <a:t>Przypisywanie</a:t>
            </a:r>
          </a:p>
          <a:p>
            <a:pPr lvl="1"/>
            <a:r>
              <a:rPr lang="pl-PL" dirty="0"/>
              <a:t>Rozwiązywanie </a:t>
            </a:r>
            <a:r>
              <a:rPr lang="pl-PL"/>
              <a:t>nazw obiektów </a:t>
            </a:r>
            <a:r>
              <a:rPr lang="pl-PL" dirty="0"/>
              <a:t>i kolumn</a:t>
            </a:r>
          </a:p>
          <a:p>
            <a:pPr lvl="1"/>
            <a:r>
              <a:rPr lang="pl-PL" dirty="0"/>
              <a:t>Tworzenie drzewa zalgebraizowanego</a:t>
            </a:r>
          </a:p>
          <a:p>
            <a:r>
              <a:rPr lang="pl-PL" b="1" dirty="0"/>
              <a:t>Optymalizacja</a:t>
            </a:r>
          </a:p>
          <a:p>
            <a:pPr lvl="1"/>
            <a:r>
              <a:rPr lang="pl-PL" dirty="0"/>
              <a:t>Generowanie możliwych planów wykonania</a:t>
            </a:r>
          </a:p>
          <a:p>
            <a:pPr lvl="1"/>
            <a:r>
              <a:rPr lang="pl-PL" dirty="0"/>
              <a:t>Wybór planu (czasem tylko wystarczający, nie najlepszy)</a:t>
            </a:r>
          </a:p>
          <a:p>
            <a:pPr lvl="1"/>
            <a:r>
              <a:rPr lang="pl-PL" dirty="0"/>
              <a:t>Plan trywialny, plan pełny</a:t>
            </a:r>
          </a:p>
          <a:p>
            <a:pPr lvl="1"/>
            <a:r>
              <a:rPr lang="pl-PL" u="sng" dirty="0"/>
              <a:t>3 fazy optymalizacji(search0, search1, search2)</a:t>
            </a:r>
          </a:p>
          <a:p>
            <a:r>
              <a:rPr lang="pl-PL" b="1" dirty="0"/>
              <a:t>Wykonanie zapytania</a:t>
            </a:r>
          </a:p>
          <a:p>
            <a:pPr lvl="1"/>
            <a:r>
              <a:rPr lang="pl-PL" dirty="0"/>
              <a:t>Wykonanie zapytania odczytując strony danych z pamięci i/bądź plików </a:t>
            </a:r>
          </a:p>
        </p:txBody>
      </p:sp>
      <p:sp>
        <p:nvSpPr>
          <p:cNvPr id="4" name="Prostokąt 3">
            <a:extLst>
              <a:ext uri="{FF2B5EF4-FFF2-40B4-BE49-F238E27FC236}">
                <a16:creationId xmlns:a16="http://schemas.microsoft.com/office/drawing/2014/main" id="{E313666F-8207-4F4B-88B3-DDDBD38B5D6E}"/>
              </a:ext>
            </a:extLst>
          </p:cNvPr>
          <p:cNvSpPr/>
          <p:nvPr/>
        </p:nvSpPr>
        <p:spPr>
          <a:xfrm>
            <a:off x="7315200" y="864107"/>
            <a:ext cx="3012141" cy="9144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pl-PL" dirty="0"/>
              <a:t>Parsowanie</a:t>
            </a:r>
          </a:p>
          <a:p>
            <a:pPr algn="ctr"/>
            <a:r>
              <a:rPr lang="pl-PL" dirty="0"/>
              <a:t>(</a:t>
            </a:r>
            <a:r>
              <a:rPr lang="pl-PL" dirty="0" err="1"/>
              <a:t>query</a:t>
            </a:r>
            <a:r>
              <a:rPr lang="pl-PL" dirty="0"/>
              <a:t> </a:t>
            </a:r>
            <a:r>
              <a:rPr lang="pl-PL" dirty="0" err="1"/>
              <a:t>parsing</a:t>
            </a:r>
            <a:r>
              <a:rPr lang="pl-PL" dirty="0"/>
              <a:t>)</a:t>
            </a:r>
          </a:p>
        </p:txBody>
      </p:sp>
      <p:sp>
        <p:nvSpPr>
          <p:cNvPr id="6" name="Prostokąt 5">
            <a:extLst>
              <a:ext uri="{FF2B5EF4-FFF2-40B4-BE49-F238E27FC236}">
                <a16:creationId xmlns:a16="http://schemas.microsoft.com/office/drawing/2014/main" id="{722D32AB-509B-4DF0-88D3-132D6E100461}"/>
              </a:ext>
            </a:extLst>
          </p:cNvPr>
          <p:cNvSpPr/>
          <p:nvPr/>
        </p:nvSpPr>
        <p:spPr>
          <a:xfrm>
            <a:off x="7315200" y="2270113"/>
            <a:ext cx="3012141" cy="9144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pl-PL" dirty="0"/>
              <a:t>Przypisywanie</a:t>
            </a:r>
          </a:p>
          <a:p>
            <a:pPr algn="ctr"/>
            <a:r>
              <a:rPr lang="pl-PL" dirty="0"/>
              <a:t>(</a:t>
            </a:r>
            <a:r>
              <a:rPr lang="pl-PL" dirty="0" err="1"/>
              <a:t>query</a:t>
            </a:r>
            <a:r>
              <a:rPr lang="pl-PL" dirty="0"/>
              <a:t> </a:t>
            </a:r>
            <a:r>
              <a:rPr lang="pl-PL" dirty="0" err="1"/>
              <a:t>algebrizer</a:t>
            </a:r>
            <a:r>
              <a:rPr lang="pl-PL" dirty="0"/>
              <a:t>)</a:t>
            </a:r>
          </a:p>
        </p:txBody>
      </p:sp>
      <p:sp>
        <p:nvSpPr>
          <p:cNvPr id="7" name="Prostokąt 6">
            <a:extLst>
              <a:ext uri="{FF2B5EF4-FFF2-40B4-BE49-F238E27FC236}">
                <a16:creationId xmlns:a16="http://schemas.microsoft.com/office/drawing/2014/main" id="{CD42C2B0-7548-4F50-9659-805D496DECDA}"/>
              </a:ext>
            </a:extLst>
          </p:cNvPr>
          <p:cNvSpPr/>
          <p:nvPr/>
        </p:nvSpPr>
        <p:spPr>
          <a:xfrm>
            <a:off x="7315200" y="3861814"/>
            <a:ext cx="3012141" cy="9144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pl-PL" dirty="0"/>
              <a:t>Optymalizacja</a:t>
            </a:r>
          </a:p>
          <a:p>
            <a:pPr algn="ctr"/>
            <a:r>
              <a:rPr lang="pl-PL" dirty="0"/>
              <a:t>(</a:t>
            </a:r>
            <a:r>
              <a:rPr lang="pl-PL" dirty="0" err="1"/>
              <a:t>query</a:t>
            </a:r>
            <a:r>
              <a:rPr lang="pl-PL" dirty="0"/>
              <a:t> </a:t>
            </a:r>
            <a:r>
              <a:rPr lang="pl-PL" dirty="0" err="1"/>
              <a:t>optimizer</a:t>
            </a:r>
            <a:r>
              <a:rPr lang="pl-PL" dirty="0"/>
              <a:t>)</a:t>
            </a:r>
          </a:p>
        </p:txBody>
      </p:sp>
      <p:sp>
        <p:nvSpPr>
          <p:cNvPr id="8" name="Prostokąt 7">
            <a:extLst>
              <a:ext uri="{FF2B5EF4-FFF2-40B4-BE49-F238E27FC236}">
                <a16:creationId xmlns:a16="http://schemas.microsoft.com/office/drawing/2014/main" id="{0F665A9A-C52D-4450-AAB1-D7C8E26F5EA0}"/>
              </a:ext>
            </a:extLst>
          </p:cNvPr>
          <p:cNvSpPr/>
          <p:nvPr/>
        </p:nvSpPr>
        <p:spPr>
          <a:xfrm>
            <a:off x="7315200" y="5267820"/>
            <a:ext cx="3012141" cy="9144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pl-PL" dirty="0"/>
              <a:t>Wykonanie</a:t>
            </a:r>
          </a:p>
          <a:p>
            <a:pPr algn="ctr"/>
            <a:r>
              <a:rPr lang="pl-PL" dirty="0"/>
              <a:t>(</a:t>
            </a:r>
            <a:r>
              <a:rPr lang="pl-PL" dirty="0" err="1"/>
              <a:t>query</a:t>
            </a:r>
            <a:r>
              <a:rPr lang="pl-PL" dirty="0"/>
              <a:t> </a:t>
            </a:r>
            <a:r>
              <a:rPr lang="pl-PL" dirty="0" err="1"/>
              <a:t>execution</a:t>
            </a:r>
            <a:r>
              <a:rPr lang="pl-PL" dirty="0"/>
              <a:t>)</a:t>
            </a:r>
          </a:p>
        </p:txBody>
      </p:sp>
    </p:spTree>
    <p:extLst>
      <p:ext uri="{BB962C8B-B14F-4D97-AF65-F5344CB8AC3E}">
        <p14:creationId xmlns:p14="http://schemas.microsoft.com/office/powerpoint/2010/main" val="8735405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16687-A1B9-86FF-2A7D-1A8C38131479}"/>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AE636E6F-66A1-4D8E-089B-17EA39AC3155}"/>
              </a:ext>
            </a:extLst>
          </p:cNvPr>
          <p:cNvSpPr>
            <a:spLocks noGrp="1"/>
          </p:cNvSpPr>
          <p:nvPr>
            <p:ph type="title"/>
          </p:nvPr>
        </p:nvSpPr>
        <p:spPr/>
        <p:txBody>
          <a:bodyPr/>
          <a:lstStyle/>
          <a:p>
            <a:r>
              <a:rPr lang="pl-PL" dirty="0"/>
              <a:t>Przetwarzanie zapytań</a:t>
            </a:r>
          </a:p>
        </p:txBody>
      </p:sp>
      <p:sp>
        <p:nvSpPr>
          <p:cNvPr id="3" name="Symbol zastępczy zawartości 2">
            <a:extLst>
              <a:ext uri="{FF2B5EF4-FFF2-40B4-BE49-F238E27FC236}">
                <a16:creationId xmlns:a16="http://schemas.microsoft.com/office/drawing/2014/main" id="{1BC47986-4A24-FF7C-2651-82AB64136E9E}"/>
              </a:ext>
            </a:extLst>
          </p:cNvPr>
          <p:cNvSpPr>
            <a:spLocks noGrp="1"/>
          </p:cNvSpPr>
          <p:nvPr>
            <p:ph idx="1"/>
          </p:nvPr>
        </p:nvSpPr>
        <p:spPr>
          <a:xfrm>
            <a:off x="3654115" y="864107"/>
            <a:ext cx="7750006" cy="5120640"/>
          </a:xfrm>
        </p:spPr>
        <p:txBody>
          <a:bodyPr anchor="t">
            <a:normAutofit lnSpcReduction="10000"/>
          </a:bodyPr>
          <a:lstStyle/>
          <a:p>
            <a:r>
              <a:rPr lang="pl-PL" dirty="0"/>
              <a:t>Opis poprzedniego slajdu:</a:t>
            </a:r>
          </a:p>
          <a:p>
            <a:endParaRPr lang="pl-PL" dirty="0"/>
          </a:p>
          <a:p>
            <a:pPr lvl="1"/>
            <a:r>
              <a:rPr lang="pl-PL" dirty="0" err="1"/>
              <a:t>Parser</a:t>
            </a:r>
            <a:r>
              <a:rPr lang="pl-PL" dirty="0"/>
              <a:t> skanuje instrukcję SELECT i dzieli ją na jednostki logiczne, takie jak słowa kluczowe, wyrażenia, operatory i identyfikatory.</a:t>
            </a:r>
          </a:p>
          <a:p>
            <a:pPr lvl="1"/>
            <a:r>
              <a:rPr lang="pl-PL" dirty="0"/>
              <a:t>Tworzone jest drzewo zapytań, czasami określane jako drzewo sekwencji, opisujące logiczne kroki potrzebne do przekształcenia danych źródłowych do formatu wymaganego przez zestaw wyników.</a:t>
            </a:r>
          </a:p>
          <a:p>
            <a:pPr lvl="1"/>
            <a:r>
              <a:rPr lang="pl-PL" dirty="0"/>
              <a:t>Optymalizator zapytań analizuje różne sposoby dostępu do tabel źródłowych. Następnie wybiera serię kroków, które najszybciej zwracają wyniki przy mniejszym zużyciu zasobów. Drzewo zapytań jest aktualizowane w celu zapisania dokładnej serii kroków. Ostateczna, zoptymalizowana wersja drzewa zapytań nazywana jest planem wykonania.</a:t>
            </a:r>
          </a:p>
          <a:p>
            <a:pPr lvl="1"/>
            <a:r>
              <a:rPr lang="pl-PL" dirty="0"/>
              <a:t>Silnik relacyjny rozpoczyna wykonywanie planu wykonania. Gdy kroki wymagające danych z tabel bazowych są przetwarzane, silnik relacyjny żąda, aby silnik pamięci masowej przekazał dane z zestawów wierszy żądanych z silnika relacyjnego.</a:t>
            </a:r>
          </a:p>
          <a:p>
            <a:pPr lvl="1"/>
            <a:r>
              <a:rPr lang="pl-PL" dirty="0"/>
              <a:t>Silnik relacyjny przetwarza dane zwrócone z silnika magazynu do formatu zdefiniowanego dla zestawu wyników i zwraca zestaw wyników do klienta.</a:t>
            </a:r>
          </a:p>
        </p:txBody>
      </p:sp>
    </p:spTree>
    <p:extLst>
      <p:ext uri="{BB962C8B-B14F-4D97-AF65-F5344CB8AC3E}">
        <p14:creationId xmlns:p14="http://schemas.microsoft.com/office/powerpoint/2010/main" val="4108205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16687-A1B9-86FF-2A7D-1A8C38131479}"/>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AE636E6F-66A1-4D8E-089B-17EA39AC3155}"/>
              </a:ext>
            </a:extLst>
          </p:cNvPr>
          <p:cNvSpPr>
            <a:spLocks noGrp="1"/>
          </p:cNvSpPr>
          <p:nvPr>
            <p:ph type="title"/>
          </p:nvPr>
        </p:nvSpPr>
        <p:spPr/>
        <p:txBody>
          <a:bodyPr/>
          <a:lstStyle/>
          <a:p>
            <a:r>
              <a:rPr lang="pl-PL" dirty="0"/>
              <a:t>Przetwarzanie zapytań</a:t>
            </a:r>
            <a:br>
              <a:rPr lang="pl-PL" dirty="0"/>
            </a:br>
            <a:r>
              <a:rPr lang="pl-PL" dirty="0"/>
              <a:t>-</a:t>
            </a:r>
            <a:br>
              <a:rPr lang="pl-PL" dirty="0"/>
            </a:br>
            <a:r>
              <a:rPr lang="pl-PL" dirty="0" err="1"/>
              <a:t>Search</a:t>
            </a:r>
            <a:endParaRPr lang="pl-PL" dirty="0"/>
          </a:p>
        </p:txBody>
      </p:sp>
      <p:sp>
        <p:nvSpPr>
          <p:cNvPr id="3" name="Symbol zastępczy zawartości 2">
            <a:extLst>
              <a:ext uri="{FF2B5EF4-FFF2-40B4-BE49-F238E27FC236}">
                <a16:creationId xmlns:a16="http://schemas.microsoft.com/office/drawing/2014/main" id="{1BC47986-4A24-FF7C-2651-82AB64136E9E}"/>
              </a:ext>
            </a:extLst>
          </p:cNvPr>
          <p:cNvSpPr>
            <a:spLocks noGrp="1"/>
          </p:cNvSpPr>
          <p:nvPr>
            <p:ph idx="1"/>
          </p:nvPr>
        </p:nvSpPr>
        <p:spPr>
          <a:xfrm>
            <a:off x="3654115" y="864107"/>
            <a:ext cx="7750006" cy="5120640"/>
          </a:xfrm>
        </p:spPr>
        <p:txBody>
          <a:bodyPr anchor="t">
            <a:normAutofit/>
          </a:bodyPr>
          <a:lstStyle/>
          <a:p>
            <a:r>
              <a:rPr lang="pl-PL" b="1" dirty="0" err="1"/>
              <a:t>Search</a:t>
            </a:r>
            <a:r>
              <a:rPr lang="pl-PL" b="1" dirty="0"/>
              <a:t> 0</a:t>
            </a:r>
          </a:p>
          <a:p>
            <a:pPr lvl="1"/>
            <a:r>
              <a:rPr lang="pl-PL" dirty="0"/>
              <a:t>Na etapie wykonywane są operacje analogiczne jak w przypadku planu trywialnego</a:t>
            </a:r>
          </a:p>
          <a:p>
            <a:r>
              <a:rPr lang="pl-PL" b="1" dirty="0" err="1"/>
              <a:t>Search</a:t>
            </a:r>
            <a:r>
              <a:rPr lang="pl-PL" b="1" dirty="0"/>
              <a:t> 1</a:t>
            </a:r>
          </a:p>
          <a:p>
            <a:pPr lvl="1"/>
            <a:r>
              <a:rPr lang="pl-PL" dirty="0"/>
              <a:t>optymalizator zapytań dokonuje zmian kolejności złączeń, wybierając je od najmniej kosztownych</a:t>
            </a:r>
          </a:p>
          <a:p>
            <a:pPr lvl="1"/>
            <a:r>
              <a:rPr lang="pl-PL" dirty="0"/>
              <a:t>Zmiany te mogą być odpytywane kilkakrotnie w celu korelacji wielu parametrów (ilość I/O, zużycie pamięci ram, zużycie procesora) mających wpływ na ostateczne wykonanie zapytania</a:t>
            </a:r>
          </a:p>
          <a:p>
            <a:r>
              <a:rPr lang="pl-PL" b="1" dirty="0" err="1"/>
              <a:t>Search</a:t>
            </a:r>
            <a:r>
              <a:rPr lang="pl-PL" b="1" dirty="0"/>
              <a:t> 2</a:t>
            </a:r>
          </a:p>
          <a:p>
            <a:pPr lvl="1"/>
            <a:r>
              <a:rPr lang="pl-PL" dirty="0"/>
              <a:t>Z kolei na tym etapie optymalizator zapytań wykorzystuje dane zebrane w poprzednim etapie (</a:t>
            </a:r>
            <a:r>
              <a:rPr lang="pl-PL" dirty="0" err="1"/>
              <a:t>Search</a:t>
            </a:r>
            <a:r>
              <a:rPr lang="pl-PL" dirty="0"/>
              <a:t> 1) i biorąc pod uwagę czas wykonania w korelacji z kosztami wybiera najbardziej optymalny plan wykonania zapytania</a:t>
            </a:r>
          </a:p>
        </p:txBody>
      </p:sp>
    </p:spTree>
    <p:extLst>
      <p:ext uri="{BB962C8B-B14F-4D97-AF65-F5344CB8AC3E}">
        <p14:creationId xmlns:p14="http://schemas.microsoft.com/office/powerpoint/2010/main" val="20950735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16687-A1B9-86FF-2A7D-1A8C38131479}"/>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AE636E6F-66A1-4D8E-089B-17EA39AC3155}"/>
              </a:ext>
            </a:extLst>
          </p:cNvPr>
          <p:cNvSpPr>
            <a:spLocks noGrp="1"/>
          </p:cNvSpPr>
          <p:nvPr>
            <p:ph type="title"/>
          </p:nvPr>
        </p:nvSpPr>
        <p:spPr/>
        <p:txBody>
          <a:bodyPr/>
          <a:lstStyle/>
          <a:p>
            <a:r>
              <a:rPr lang="pl-PL" dirty="0"/>
              <a:t>Przetwarzanie zapytania SQL</a:t>
            </a:r>
          </a:p>
        </p:txBody>
      </p:sp>
      <p:sp>
        <p:nvSpPr>
          <p:cNvPr id="3" name="Symbol zastępczy zawartości 2">
            <a:extLst>
              <a:ext uri="{FF2B5EF4-FFF2-40B4-BE49-F238E27FC236}">
                <a16:creationId xmlns:a16="http://schemas.microsoft.com/office/drawing/2014/main" id="{1BC47986-4A24-FF7C-2651-82AB64136E9E}"/>
              </a:ext>
            </a:extLst>
          </p:cNvPr>
          <p:cNvSpPr>
            <a:spLocks noGrp="1"/>
          </p:cNvSpPr>
          <p:nvPr>
            <p:ph idx="1"/>
          </p:nvPr>
        </p:nvSpPr>
        <p:spPr>
          <a:xfrm>
            <a:off x="3654115" y="864107"/>
            <a:ext cx="7750006" cy="5120640"/>
          </a:xfrm>
        </p:spPr>
        <p:txBody>
          <a:bodyPr anchor="t">
            <a:normAutofit/>
          </a:bodyPr>
          <a:lstStyle/>
          <a:p>
            <a:r>
              <a:rPr lang="pl-PL" b="1" dirty="0"/>
              <a:t>Optymalizacja instrukcji SELECT</a:t>
            </a:r>
          </a:p>
          <a:p>
            <a:endParaRPr lang="pl-PL" b="1" dirty="0"/>
          </a:p>
          <a:p>
            <a:endParaRPr lang="pl-PL" b="1" dirty="0"/>
          </a:p>
          <a:p>
            <a:endParaRPr lang="pl-PL" b="1" dirty="0"/>
          </a:p>
          <a:p>
            <a:pPr lvl="1"/>
            <a:endParaRPr lang="pl-PL" dirty="0"/>
          </a:p>
          <a:p>
            <a:pPr lvl="1"/>
            <a:endParaRPr lang="pl-PL" dirty="0"/>
          </a:p>
          <a:p>
            <a:pPr lvl="1"/>
            <a:r>
              <a:rPr lang="pl-PL" dirty="0"/>
              <a:t>Instrukcja SELECT definiuje tylko następujące elementy:</a:t>
            </a:r>
          </a:p>
          <a:p>
            <a:pPr lvl="2"/>
            <a:r>
              <a:rPr lang="pl-PL" dirty="0"/>
              <a:t>Format zestawu wyników. Jest on określony głównie w liście </a:t>
            </a:r>
            <a:r>
              <a:rPr lang="pl-PL" dirty="0" err="1"/>
              <a:t>select</a:t>
            </a:r>
            <a:r>
              <a:rPr lang="pl-PL" dirty="0"/>
              <a:t>. Jednak inne klauzule, takie jak ORDER BY i GROUP BY, również wpływają na ostateczną formę zestawu wyników.</a:t>
            </a:r>
          </a:p>
          <a:p>
            <a:pPr lvl="2"/>
            <a:r>
              <a:rPr lang="pl-PL" dirty="0"/>
              <a:t>Tabele zawierające dane źródłowe. Jest to określone w klauzuli FROM.</a:t>
            </a:r>
          </a:p>
          <a:p>
            <a:pPr lvl="2"/>
            <a:r>
              <a:rPr lang="pl-PL" dirty="0"/>
              <a:t>W jaki sposób tabele są logicznie powiązane dla celów instrukcji SELECT. Jest to zdefiniowane w specyfikacjach złączenia, które mogą pojawić się w klauzuli WHERE lub w klauzuli ON następującej po FROM.</a:t>
            </a:r>
          </a:p>
          <a:p>
            <a:pPr lvl="2"/>
            <a:r>
              <a:rPr lang="pl-PL" dirty="0"/>
              <a:t>Warunki, które muszą spełniać wiersze w tabelach źródłowych, aby zakwalifikować się do instrukcji SELECT. Są one określone w klauzulach WHERE i HAVING.</a:t>
            </a:r>
          </a:p>
        </p:txBody>
      </p:sp>
      <p:pic>
        <p:nvPicPr>
          <p:cNvPr id="1026" name="Picture 2" descr="Diagram of the Query processor I/O.">
            <a:extLst>
              <a:ext uri="{FF2B5EF4-FFF2-40B4-BE49-F238E27FC236}">
                <a16:creationId xmlns:a16="http://schemas.microsoft.com/office/drawing/2014/main" id="{C76737B8-9256-A145-4A4C-610696F512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50302" y="1311572"/>
            <a:ext cx="3169108" cy="16580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91955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16687-A1B9-86FF-2A7D-1A8C38131479}"/>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AE636E6F-66A1-4D8E-089B-17EA39AC3155}"/>
              </a:ext>
            </a:extLst>
          </p:cNvPr>
          <p:cNvSpPr>
            <a:spLocks noGrp="1"/>
          </p:cNvSpPr>
          <p:nvPr>
            <p:ph type="title"/>
          </p:nvPr>
        </p:nvSpPr>
        <p:spPr/>
        <p:txBody>
          <a:bodyPr/>
          <a:lstStyle/>
          <a:p>
            <a:r>
              <a:rPr lang="pl-PL" dirty="0"/>
              <a:t>Przetwarzanie zapytania SQL</a:t>
            </a:r>
          </a:p>
        </p:txBody>
      </p:sp>
      <p:sp>
        <p:nvSpPr>
          <p:cNvPr id="3" name="Symbol zastępczy zawartości 2">
            <a:extLst>
              <a:ext uri="{FF2B5EF4-FFF2-40B4-BE49-F238E27FC236}">
                <a16:creationId xmlns:a16="http://schemas.microsoft.com/office/drawing/2014/main" id="{1BC47986-4A24-FF7C-2651-82AB64136E9E}"/>
              </a:ext>
            </a:extLst>
          </p:cNvPr>
          <p:cNvSpPr>
            <a:spLocks noGrp="1"/>
          </p:cNvSpPr>
          <p:nvPr>
            <p:ph idx="1"/>
          </p:nvPr>
        </p:nvSpPr>
        <p:spPr>
          <a:xfrm>
            <a:off x="3654115" y="864107"/>
            <a:ext cx="7750006" cy="5120640"/>
          </a:xfrm>
        </p:spPr>
        <p:txBody>
          <a:bodyPr anchor="t">
            <a:normAutofit lnSpcReduction="10000"/>
          </a:bodyPr>
          <a:lstStyle/>
          <a:p>
            <a:r>
              <a:rPr lang="pl-PL" b="1" dirty="0"/>
              <a:t>Plan wykonania zapytania jest definicją następujących elementów:</a:t>
            </a:r>
          </a:p>
          <a:p>
            <a:pPr lvl="1"/>
            <a:r>
              <a:rPr lang="pl-PL" dirty="0"/>
              <a:t>Kolejność dostępu do tabel źródłowych</a:t>
            </a:r>
          </a:p>
          <a:p>
            <a:pPr lvl="2"/>
            <a:r>
              <a:rPr lang="pl-PL" dirty="0"/>
              <a:t>Zazwyczaj istnieje wiele sekwencji, w których serwer bazy danych może uzyskać dostęp do tabel bazowych w celu zbudowania zestawu wyników. Na przykład, jeśli instrukcja SELECT odwołuje się do trzech tabel, serwer bazy danych może najpierw uzyskać dostęp do tabeli A, użyć danych z tabeli A do wyodrębnienia pasujących wierszy z tabeli B, a następnie użyć danych z tabeli B do wyodrębnienia danych z tabeli C.</a:t>
            </a:r>
          </a:p>
          <a:p>
            <a:pPr lvl="1"/>
            <a:r>
              <a:rPr lang="pl-PL" dirty="0"/>
              <a:t>Metody używane do wyodrębniania danych z każdej tabeli.</a:t>
            </a:r>
          </a:p>
          <a:p>
            <a:pPr lvl="2"/>
            <a:r>
              <a:rPr lang="pl-PL" dirty="0"/>
              <a:t>istnieją różne metody dostępu do danych w każdej tabeli. </a:t>
            </a:r>
          </a:p>
          <a:p>
            <a:pPr lvl="2"/>
            <a:r>
              <a:rPr lang="pl-PL" dirty="0"/>
              <a:t>Jeśli wymaganych jest tylko kilka wierszy z określonymi wartościami klucza, serwer bazy danych może użyć indeksu. </a:t>
            </a:r>
          </a:p>
          <a:p>
            <a:pPr lvl="2"/>
            <a:r>
              <a:rPr lang="pl-PL" dirty="0"/>
              <a:t>Jeśli wymagane są wszystkie wiersze w tabeli, serwer bazy danych może zignorować indeksy i wykonać skanowanie tabeli. </a:t>
            </a:r>
          </a:p>
          <a:p>
            <a:pPr lvl="2"/>
            <a:r>
              <a:rPr lang="pl-PL" dirty="0"/>
              <a:t>Jeśli wymagane są wszystkie wiersze w tabeli, ale istnieje indeks, którego kluczowe kolumny znajdują się w ORDER BY, wykonanie skanowania indeksu zamiast skanowania tabeli może zaoszczędzić osobnego sortowania zestawu wyników. </a:t>
            </a:r>
          </a:p>
          <a:p>
            <a:pPr lvl="2"/>
            <a:r>
              <a:rPr lang="pl-PL" dirty="0"/>
              <a:t>Jeśli tabela jest bardzo mała, skanowanie tabeli może być najbardziej wydajną metodą dla prawie całego dostępu do tabeli.</a:t>
            </a:r>
          </a:p>
          <a:p>
            <a:pPr lvl="2"/>
            <a:endParaRPr lang="pl-PL" dirty="0"/>
          </a:p>
        </p:txBody>
      </p:sp>
    </p:spTree>
    <p:extLst>
      <p:ext uri="{BB962C8B-B14F-4D97-AF65-F5344CB8AC3E}">
        <p14:creationId xmlns:p14="http://schemas.microsoft.com/office/powerpoint/2010/main" val="20279327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16687-A1B9-86FF-2A7D-1A8C38131479}"/>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AE636E6F-66A1-4D8E-089B-17EA39AC3155}"/>
              </a:ext>
            </a:extLst>
          </p:cNvPr>
          <p:cNvSpPr>
            <a:spLocks noGrp="1"/>
          </p:cNvSpPr>
          <p:nvPr>
            <p:ph type="title"/>
          </p:nvPr>
        </p:nvSpPr>
        <p:spPr/>
        <p:txBody>
          <a:bodyPr/>
          <a:lstStyle/>
          <a:p>
            <a:pPr algn="ctr"/>
            <a:r>
              <a:rPr lang="pl-PL" dirty="0"/>
              <a:t>Optymalizacja</a:t>
            </a:r>
            <a:br>
              <a:rPr lang="pl-PL" dirty="0"/>
            </a:br>
            <a:r>
              <a:rPr lang="pl-PL" dirty="0"/>
              <a:t>(1/5)</a:t>
            </a:r>
          </a:p>
        </p:txBody>
      </p:sp>
      <p:sp>
        <p:nvSpPr>
          <p:cNvPr id="3" name="Symbol zastępczy zawartości 2">
            <a:extLst>
              <a:ext uri="{FF2B5EF4-FFF2-40B4-BE49-F238E27FC236}">
                <a16:creationId xmlns:a16="http://schemas.microsoft.com/office/drawing/2014/main" id="{1BC47986-4A24-FF7C-2651-82AB64136E9E}"/>
              </a:ext>
            </a:extLst>
          </p:cNvPr>
          <p:cNvSpPr>
            <a:spLocks noGrp="1"/>
          </p:cNvSpPr>
          <p:nvPr>
            <p:ph idx="1"/>
          </p:nvPr>
        </p:nvSpPr>
        <p:spPr>
          <a:xfrm>
            <a:off x="3654115" y="864107"/>
            <a:ext cx="7750006" cy="5120640"/>
          </a:xfrm>
        </p:spPr>
        <p:txBody>
          <a:bodyPr anchor="t">
            <a:normAutofit/>
          </a:bodyPr>
          <a:lstStyle/>
          <a:p>
            <a:r>
              <a:rPr lang="pl-PL" dirty="0"/>
              <a:t>Proces wyboru jednego planu wykonania z potencjalnie wielu możliwych planów nazywany jest optymalizacją. </a:t>
            </a:r>
          </a:p>
          <a:p>
            <a:r>
              <a:rPr lang="pl-PL" dirty="0"/>
              <a:t>Optymalizator zapytań jest jednym z najważniejszych komponentów silnika bazy danych. </a:t>
            </a:r>
          </a:p>
          <a:p>
            <a:r>
              <a:rPr lang="pl-PL" dirty="0"/>
              <a:t>Podczas gdy optymalizator zapytań wykorzystuje pewien narzut do analizy zapytania i wyboru planu, ten narzut jest zwykle kilkakrotnie oszczędzany, gdy optymalizator zapytań wybiera efektywny plan wykonania. </a:t>
            </a:r>
          </a:p>
          <a:p>
            <a:r>
              <a:rPr lang="pl-PL" dirty="0"/>
              <a:t>Na przykład, dwie firmy budowlane mogą otrzymać identyczne plany domu. Jeśli jedna firma poświęci na początku kilka dni na zaplanowanie, w jaki sposób zbuduje dom, a druga firma rozpocznie budowę bez planowania, firma, która poświęci czas na zaplanowanie swojego projektu, prawdopodobnie ukończy go jako pierwsza.</a:t>
            </a:r>
          </a:p>
        </p:txBody>
      </p:sp>
    </p:spTree>
    <p:extLst>
      <p:ext uri="{BB962C8B-B14F-4D97-AF65-F5344CB8AC3E}">
        <p14:creationId xmlns:p14="http://schemas.microsoft.com/office/powerpoint/2010/main" val="35009361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16687-A1B9-86FF-2A7D-1A8C38131479}"/>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AE636E6F-66A1-4D8E-089B-17EA39AC3155}"/>
              </a:ext>
            </a:extLst>
          </p:cNvPr>
          <p:cNvSpPr>
            <a:spLocks noGrp="1"/>
          </p:cNvSpPr>
          <p:nvPr>
            <p:ph type="title"/>
          </p:nvPr>
        </p:nvSpPr>
        <p:spPr/>
        <p:txBody>
          <a:bodyPr/>
          <a:lstStyle/>
          <a:p>
            <a:pPr algn="ctr"/>
            <a:r>
              <a:rPr lang="pl-PL" dirty="0"/>
              <a:t>Optymalizacja</a:t>
            </a:r>
            <a:br>
              <a:rPr lang="pl-PL" dirty="0"/>
            </a:br>
            <a:r>
              <a:rPr lang="pl-PL" dirty="0"/>
              <a:t>(2/5)</a:t>
            </a:r>
          </a:p>
        </p:txBody>
      </p:sp>
      <p:sp>
        <p:nvSpPr>
          <p:cNvPr id="3" name="Symbol zastępczy zawartości 2">
            <a:extLst>
              <a:ext uri="{FF2B5EF4-FFF2-40B4-BE49-F238E27FC236}">
                <a16:creationId xmlns:a16="http://schemas.microsoft.com/office/drawing/2014/main" id="{1BC47986-4A24-FF7C-2651-82AB64136E9E}"/>
              </a:ext>
            </a:extLst>
          </p:cNvPr>
          <p:cNvSpPr>
            <a:spLocks noGrp="1"/>
          </p:cNvSpPr>
          <p:nvPr>
            <p:ph idx="1"/>
          </p:nvPr>
        </p:nvSpPr>
        <p:spPr>
          <a:xfrm>
            <a:off x="3654115" y="864107"/>
            <a:ext cx="7750006" cy="5120640"/>
          </a:xfrm>
        </p:spPr>
        <p:txBody>
          <a:bodyPr anchor="t">
            <a:normAutofit/>
          </a:bodyPr>
          <a:lstStyle/>
          <a:p>
            <a:r>
              <a:rPr lang="pl-PL" dirty="0"/>
              <a:t>Optymalizator zapytań SQL Server jest </a:t>
            </a:r>
            <a:r>
              <a:rPr lang="pl-PL" b="1" dirty="0"/>
              <a:t>optymalizatorem opartym na kosztach. </a:t>
            </a:r>
          </a:p>
          <a:p>
            <a:r>
              <a:rPr lang="pl-PL" dirty="0"/>
              <a:t>Każdy możliwy plan wykonania ma powiązany koszt w postaci ilości wykorzystanych zasobów obliczeniowych. </a:t>
            </a:r>
          </a:p>
          <a:p>
            <a:r>
              <a:rPr lang="pl-PL" dirty="0"/>
              <a:t>Optymalizator zapytań musi przeanalizować możliwe plany i wybrać ten o najniższym szacowanym koszcie. </a:t>
            </a:r>
          </a:p>
          <a:p>
            <a:r>
              <a:rPr lang="pl-PL" dirty="0"/>
              <a:t>Niektóre złożone instrukcje SELECT mają tysiące możliwych planów wykonania. </a:t>
            </a:r>
            <a:r>
              <a:rPr lang="pl-PL" b="1" dirty="0"/>
              <a:t>W takich przypadkach Query </a:t>
            </a:r>
            <a:r>
              <a:rPr lang="pl-PL" b="1" dirty="0" err="1"/>
              <a:t>Optimizer</a:t>
            </a:r>
            <a:r>
              <a:rPr lang="pl-PL" b="1" dirty="0"/>
              <a:t> nie analizuje wszystkich możliwych kombinacji. </a:t>
            </a:r>
          </a:p>
          <a:p>
            <a:r>
              <a:rPr lang="pl-PL" dirty="0"/>
              <a:t>Zamiast tego używa złożonych algorytmów, aby znaleźć plan wykonania, który ma koszt rozsądnie zbliżony do minimalnego możliwego kosztu.</a:t>
            </a:r>
          </a:p>
        </p:txBody>
      </p:sp>
    </p:spTree>
    <p:extLst>
      <p:ext uri="{BB962C8B-B14F-4D97-AF65-F5344CB8AC3E}">
        <p14:creationId xmlns:p14="http://schemas.microsoft.com/office/powerpoint/2010/main" val="18029439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16687-A1B9-86FF-2A7D-1A8C38131479}"/>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AE636E6F-66A1-4D8E-089B-17EA39AC3155}"/>
              </a:ext>
            </a:extLst>
          </p:cNvPr>
          <p:cNvSpPr>
            <a:spLocks noGrp="1"/>
          </p:cNvSpPr>
          <p:nvPr>
            <p:ph type="title"/>
          </p:nvPr>
        </p:nvSpPr>
        <p:spPr/>
        <p:txBody>
          <a:bodyPr/>
          <a:lstStyle/>
          <a:p>
            <a:pPr algn="ctr"/>
            <a:r>
              <a:rPr lang="pl-PL" dirty="0"/>
              <a:t>Optymalizacja</a:t>
            </a:r>
            <a:br>
              <a:rPr lang="pl-PL" dirty="0"/>
            </a:br>
            <a:r>
              <a:rPr lang="pl-PL" dirty="0"/>
              <a:t>(3/5)</a:t>
            </a:r>
          </a:p>
        </p:txBody>
      </p:sp>
      <p:sp>
        <p:nvSpPr>
          <p:cNvPr id="3" name="Symbol zastępczy zawartości 2">
            <a:extLst>
              <a:ext uri="{FF2B5EF4-FFF2-40B4-BE49-F238E27FC236}">
                <a16:creationId xmlns:a16="http://schemas.microsoft.com/office/drawing/2014/main" id="{1BC47986-4A24-FF7C-2651-82AB64136E9E}"/>
              </a:ext>
            </a:extLst>
          </p:cNvPr>
          <p:cNvSpPr>
            <a:spLocks noGrp="1"/>
          </p:cNvSpPr>
          <p:nvPr>
            <p:ph idx="1"/>
          </p:nvPr>
        </p:nvSpPr>
        <p:spPr>
          <a:xfrm>
            <a:off x="3654115" y="864107"/>
            <a:ext cx="7750006" cy="5120640"/>
          </a:xfrm>
        </p:spPr>
        <p:txBody>
          <a:bodyPr anchor="t">
            <a:normAutofit/>
          </a:bodyPr>
          <a:lstStyle/>
          <a:p>
            <a:r>
              <a:rPr lang="pl-PL" dirty="0"/>
              <a:t>Optymalizator zapytań SQL Server </a:t>
            </a:r>
            <a:r>
              <a:rPr lang="pl-PL" b="1" dirty="0"/>
              <a:t>nie wybiera tylko planu wykonania o najniższym koszcie zasobów; </a:t>
            </a:r>
          </a:p>
          <a:p>
            <a:r>
              <a:rPr lang="pl-PL" dirty="0"/>
              <a:t>wybiera plan, który zwraca wyniki użytkownikowi przy rozsądnym koszcie zasobów i który zwraca wyniki najszybciej. </a:t>
            </a:r>
          </a:p>
          <a:p>
            <a:r>
              <a:rPr lang="pl-PL" dirty="0"/>
              <a:t>Przykładowo, równoległe przetwarzanie zapytania zazwyczaj zużywa więcej zasobów niż przetwarzanie szeregowe, ale kończy zapytanie szybciej. </a:t>
            </a:r>
          </a:p>
          <a:p>
            <a:r>
              <a:rPr lang="pl-PL" dirty="0"/>
              <a:t>Optymalizator zapytań SQL Server użyje równoległego planu wykonania, aby zwrócić wyniki, jeśli nie wpłynie to negatywnie na obciążenie serwera.</a:t>
            </a:r>
          </a:p>
        </p:txBody>
      </p:sp>
    </p:spTree>
    <p:extLst>
      <p:ext uri="{BB962C8B-B14F-4D97-AF65-F5344CB8AC3E}">
        <p14:creationId xmlns:p14="http://schemas.microsoft.com/office/powerpoint/2010/main" val="29724244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16687-A1B9-86FF-2A7D-1A8C38131479}"/>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AE636E6F-66A1-4D8E-089B-17EA39AC3155}"/>
              </a:ext>
            </a:extLst>
          </p:cNvPr>
          <p:cNvSpPr>
            <a:spLocks noGrp="1"/>
          </p:cNvSpPr>
          <p:nvPr>
            <p:ph type="title"/>
          </p:nvPr>
        </p:nvSpPr>
        <p:spPr/>
        <p:txBody>
          <a:bodyPr/>
          <a:lstStyle/>
          <a:p>
            <a:pPr algn="ctr"/>
            <a:r>
              <a:rPr lang="pl-PL" dirty="0"/>
              <a:t>Optymalizacja</a:t>
            </a:r>
            <a:br>
              <a:rPr lang="pl-PL" dirty="0"/>
            </a:br>
            <a:r>
              <a:rPr lang="pl-PL" dirty="0"/>
              <a:t>(4/5)</a:t>
            </a:r>
          </a:p>
        </p:txBody>
      </p:sp>
      <p:sp>
        <p:nvSpPr>
          <p:cNvPr id="3" name="Symbol zastępczy zawartości 2">
            <a:extLst>
              <a:ext uri="{FF2B5EF4-FFF2-40B4-BE49-F238E27FC236}">
                <a16:creationId xmlns:a16="http://schemas.microsoft.com/office/drawing/2014/main" id="{1BC47986-4A24-FF7C-2651-82AB64136E9E}"/>
              </a:ext>
            </a:extLst>
          </p:cNvPr>
          <p:cNvSpPr>
            <a:spLocks noGrp="1"/>
          </p:cNvSpPr>
          <p:nvPr>
            <p:ph idx="1"/>
          </p:nvPr>
        </p:nvSpPr>
        <p:spPr>
          <a:xfrm>
            <a:off x="3654115" y="864107"/>
            <a:ext cx="7750006" cy="5120640"/>
          </a:xfrm>
        </p:spPr>
        <p:txBody>
          <a:bodyPr anchor="t">
            <a:normAutofit/>
          </a:bodyPr>
          <a:lstStyle/>
          <a:p>
            <a:r>
              <a:rPr lang="pl-PL" dirty="0"/>
              <a:t>Optymalizator zapytań SQL Server opiera się na statystykach, gdy szacuje koszty zasobów różnych metod wyodrębniania informacji z tabeli lub indeksu. </a:t>
            </a:r>
          </a:p>
          <a:p>
            <a:r>
              <a:rPr lang="pl-PL" dirty="0"/>
              <a:t>Statystyki są przechowywane dla kolumn i indeksów i zawierają informacje o gęstości danych bazowych. </a:t>
            </a:r>
          </a:p>
          <a:p>
            <a:pPr lvl="1"/>
            <a:r>
              <a:rPr lang="pl-PL" dirty="0"/>
              <a:t>Gęstość określa rozkład unikalnych wartości istniejących w danych lub średnią liczbę zduplikowanych wartości dla danej kolumny. Wraz ze spadkiem gęstości wzrasta selektywność wartości.</a:t>
            </a:r>
          </a:p>
          <a:p>
            <a:r>
              <a:rPr lang="pl-PL" dirty="0"/>
              <a:t>Jest to wykorzystywane do wskazania selektywności wartości w określonym indeksie lub kolumnie. </a:t>
            </a:r>
          </a:p>
          <a:p>
            <a:r>
              <a:rPr lang="pl-PL" dirty="0"/>
              <a:t>Na przykład, w tabeli reprezentującej samochody, wiele samochodów ma tego samego producenta, ale każdy samochód ma unikalny numer identyfikacyjny pojazdu (VIN). Indeks VIN jest bardziej selektywny niż indeks producenta, ponieważ VIN ma mniejszą gęstość niż producent. </a:t>
            </a:r>
          </a:p>
          <a:p>
            <a:r>
              <a:rPr lang="pl-PL" dirty="0"/>
              <a:t>Jeśli statystyki indeksu nie są aktualne, optymalizator zapytań może nie dokonać najlepszego wyboru dla bieżącego stanu tabeli. </a:t>
            </a:r>
          </a:p>
        </p:txBody>
      </p:sp>
    </p:spTree>
    <p:extLst>
      <p:ext uri="{BB962C8B-B14F-4D97-AF65-F5344CB8AC3E}">
        <p14:creationId xmlns:p14="http://schemas.microsoft.com/office/powerpoint/2010/main" val="40695182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16687-A1B9-86FF-2A7D-1A8C38131479}"/>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AE636E6F-66A1-4D8E-089B-17EA39AC3155}"/>
              </a:ext>
            </a:extLst>
          </p:cNvPr>
          <p:cNvSpPr>
            <a:spLocks noGrp="1"/>
          </p:cNvSpPr>
          <p:nvPr>
            <p:ph type="title"/>
          </p:nvPr>
        </p:nvSpPr>
        <p:spPr/>
        <p:txBody>
          <a:bodyPr/>
          <a:lstStyle/>
          <a:p>
            <a:pPr algn="ctr"/>
            <a:r>
              <a:rPr lang="pl-PL" dirty="0"/>
              <a:t>Optymalizacja</a:t>
            </a:r>
            <a:br>
              <a:rPr lang="pl-PL"/>
            </a:br>
            <a:r>
              <a:rPr lang="pl-PL"/>
              <a:t>(5/5</a:t>
            </a:r>
            <a:r>
              <a:rPr lang="pl-PL" dirty="0"/>
              <a:t>)</a:t>
            </a:r>
          </a:p>
        </p:txBody>
      </p:sp>
      <p:sp>
        <p:nvSpPr>
          <p:cNvPr id="3" name="Symbol zastępczy zawartości 2">
            <a:extLst>
              <a:ext uri="{FF2B5EF4-FFF2-40B4-BE49-F238E27FC236}">
                <a16:creationId xmlns:a16="http://schemas.microsoft.com/office/drawing/2014/main" id="{1BC47986-4A24-FF7C-2651-82AB64136E9E}"/>
              </a:ext>
            </a:extLst>
          </p:cNvPr>
          <p:cNvSpPr>
            <a:spLocks noGrp="1"/>
          </p:cNvSpPr>
          <p:nvPr>
            <p:ph idx="1"/>
          </p:nvPr>
        </p:nvSpPr>
        <p:spPr>
          <a:xfrm>
            <a:off x="3654115" y="864107"/>
            <a:ext cx="7750006" cy="5120640"/>
          </a:xfrm>
        </p:spPr>
        <p:txBody>
          <a:bodyPr anchor="t">
            <a:normAutofit/>
          </a:bodyPr>
          <a:lstStyle/>
          <a:p>
            <a:r>
              <a:rPr lang="pl-PL" dirty="0"/>
              <a:t>Optymalizator zapytań SQL Server jest ważny, ponieważ umożliwia serwerowi bazy danych dynamiczne dostosowywanie się do zmieniających się warunków w bazie danych bez konieczności wprowadzania danych przez programistę lub administratora bazy danych. </a:t>
            </a:r>
          </a:p>
          <a:p>
            <a:r>
              <a:rPr lang="pl-PL" dirty="0"/>
              <a:t>Dzięki temu programiści mogą skupić się na opisywaniu końcowego wyniku zapytania. Mogą ufać, że SQL Server Query </a:t>
            </a:r>
            <a:r>
              <a:rPr lang="pl-PL" dirty="0" err="1"/>
              <a:t>Optimizer</a:t>
            </a:r>
            <a:r>
              <a:rPr lang="pl-PL" dirty="0"/>
              <a:t> zbuduje wydajny plan wykonania dla stanu bazy danych za każdym razem, gdy instrukcja jest uruchamiana.</a:t>
            </a:r>
          </a:p>
        </p:txBody>
      </p:sp>
    </p:spTree>
    <p:extLst>
      <p:ext uri="{BB962C8B-B14F-4D97-AF65-F5344CB8AC3E}">
        <p14:creationId xmlns:p14="http://schemas.microsoft.com/office/powerpoint/2010/main" val="26299392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B06E5A1-8B64-44F0-9F61-990F78D1FF6F}"/>
              </a:ext>
            </a:extLst>
          </p:cNvPr>
          <p:cNvSpPr>
            <a:spLocks noGrp="1"/>
          </p:cNvSpPr>
          <p:nvPr>
            <p:ph type="title"/>
          </p:nvPr>
        </p:nvSpPr>
        <p:spPr/>
        <p:txBody>
          <a:bodyPr/>
          <a:lstStyle/>
          <a:p>
            <a:r>
              <a:rPr lang="pl-PL" dirty="0"/>
              <a:t>Rodzaje operatorów</a:t>
            </a:r>
          </a:p>
        </p:txBody>
      </p:sp>
      <p:sp>
        <p:nvSpPr>
          <p:cNvPr id="3" name="Symbol zastępczy zawartości 2">
            <a:extLst>
              <a:ext uri="{FF2B5EF4-FFF2-40B4-BE49-F238E27FC236}">
                <a16:creationId xmlns:a16="http://schemas.microsoft.com/office/drawing/2014/main" id="{AD8E9BBF-A55D-4C50-9C86-D226AA6FCBAF}"/>
              </a:ext>
            </a:extLst>
          </p:cNvPr>
          <p:cNvSpPr>
            <a:spLocks noGrp="1"/>
          </p:cNvSpPr>
          <p:nvPr>
            <p:ph idx="1"/>
          </p:nvPr>
        </p:nvSpPr>
        <p:spPr>
          <a:xfrm>
            <a:off x="3654114" y="864107"/>
            <a:ext cx="7722097" cy="5120640"/>
          </a:xfrm>
        </p:spPr>
        <p:txBody>
          <a:bodyPr anchor="t">
            <a:normAutofit/>
          </a:bodyPr>
          <a:lstStyle/>
          <a:p>
            <a:r>
              <a:rPr lang="pl-PL" b="1" dirty="0" err="1"/>
              <a:t>Estimated</a:t>
            </a:r>
            <a:r>
              <a:rPr lang="pl-PL" b="1" dirty="0"/>
              <a:t> </a:t>
            </a:r>
            <a:r>
              <a:rPr lang="pl-PL" b="1" dirty="0" err="1"/>
              <a:t>Execution</a:t>
            </a:r>
            <a:r>
              <a:rPr lang="pl-PL" b="1" dirty="0"/>
              <a:t> Plan</a:t>
            </a:r>
          </a:p>
          <a:p>
            <a:pPr lvl="1"/>
            <a:r>
              <a:rPr lang="pl-PL" dirty="0"/>
              <a:t>Szacowany plan wykonania</a:t>
            </a:r>
          </a:p>
          <a:p>
            <a:endParaRPr lang="pl-PL" b="1" dirty="0"/>
          </a:p>
          <a:p>
            <a:endParaRPr lang="pl-PL" b="1" dirty="0"/>
          </a:p>
          <a:p>
            <a:r>
              <a:rPr lang="pl-PL" b="1" dirty="0" err="1"/>
              <a:t>Actual</a:t>
            </a:r>
            <a:r>
              <a:rPr lang="pl-PL" b="1" dirty="0"/>
              <a:t> </a:t>
            </a:r>
            <a:r>
              <a:rPr lang="pl-PL" b="1" dirty="0" err="1"/>
              <a:t>Execution</a:t>
            </a:r>
            <a:r>
              <a:rPr lang="pl-PL" b="1" dirty="0"/>
              <a:t> Plan</a:t>
            </a:r>
          </a:p>
          <a:p>
            <a:pPr lvl="1"/>
            <a:r>
              <a:rPr lang="pl-PL" dirty="0"/>
              <a:t>Właściwy plan zapytania</a:t>
            </a:r>
          </a:p>
          <a:p>
            <a:pPr lvl="1"/>
            <a:endParaRPr lang="pl-PL" dirty="0"/>
          </a:p>
          <a:p>
            <a:pPr lvl="1"/>
            <a:endParaRPr lang="pl-PL" dirty="0"/>
          </a:p>
          <a:p>
            <a:endParaRPr lang="pl-PL" dirty="0"/>
          </a:p>
          <a:p>
            <a:endParaRPr lang="pl-PL" dirty="0"/>
          </a:p>
          <a:p>
            <a:endParaRPr lang="pl-PL" dirty="0"/>
          </a:p>
          <a:p>
            <a:r>
              <a:rPr lang="pl-PL" dirty="0"/>
              <a:t>Jeśli statystyki są nieaktualne, to plan szacowany może się różnić od właściwego</a:t>
            </a:r>
          </a:p>
        </p:txBody>
      </p:sp>
      <p:pic>
        <p:nvPicPr>
          <p:cNvPr id="9" name="Obraz 8">
            <a:extLst>
              <a:ext uri="{FF2B5EF4-FFF2-40B4-BE49-F238E27FC236}">
                <a16:creationId xmlns:a16="http://schemas.microsoft.com/office/drawing/2014/main" id="{7FE2D8A6-3975-4452-B4C2-43384AA3562C}"/>
              </a:ext>
            </a:extLst>
          </p:cNvPr>
          <p:cNvPicPr>
            <a:picLocks noChangeAspect="1"/>
          </p:cNvPicPr>
          <p:nvPr/>
        </p:nvPicPr>
        <p:blipFill>
          <a:blip r:embed="rId2"/>
          <a:stretch>
            <a:fillRect/>
          </a:stretch>
        </p:blipFill>
        <p:spPr>
          <a:xfrm>
            <a:off x="6555796" y="1576612"/>
            <a:ext cx="2953162" cy="800212"/>
          </a:xfrm>
          <a:prstGeom prst="rect">
            <a:avLst/>
          </a:prstGeom>
        </p:spPr>
      </p:pic>
      <p:pic>
        <p:nvPicPr>
          <p:cNvPr id="11" name="Obraz 10">
            <a:extLst>
              <a:ext uri="{FF2B5EF4-FFF2-40B4-BE49-F238E27FC236}">
                <a16:creationId xmlns:a16="http://schemas.microsoft.com/office/drawing/2014/main" id="{657435AB-D85E-4C88-A508-7F78C771AE1A}"/>
              </a:ext>
            </a:extLst>
          </p:cNvPr>
          <p:cNvPicPr>
            <a:picLocks noChangeAspect="1"/>
          </p:cNvPicPr>
          <p:nvPr/>
        </p:nvPicPr>
        <p:blipFill>
          <a:blip r:embed="rId3"/>
          <a:stretch>
            <a:fillRect/>
          </a:stretch>
        </p:blipFill>
        <p:spPr>
          <a:xfrm>
            <a:off x="6617717" y="3313889"/>
            <a:ext cx="2829320" cy="866896"/>
          </a:xfrm>
          <a:prstGeom prst="rect">
            <a:avLst/>
          </a:prstGeom>
        </p:spPr>
      </p:pic>
    </p:spTree>
    <p:extLst>
      <p:ext uri="{BB962C8B-B14F-4D97-AF65-F5344CB8AC3E}">
        <p14:creationId xmlns:p14="http://schemas.microsoft.com/office/powerpoint/2010/main" val="5677140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B06E5A1-8B64-44F0-9F61-990F78D1FF6F}"/>
              </a:ext>
            </a:extLst>
          </p:cNvPr>
          <p:cNvSpPr>
            <a:spLocks noGrp="1"/>
          </p:cNvSpPr>
          <p:nvPr>
            <p:ph type="title"/>
          </p:nvPr>
        </p:nvSpPr>
        <p:spPr/>
        <p:txBody>
          <a:bodyPr/>
          <a:lstStyle/>
          <a:p>
            <a:r>
              <a:rPr lang="pl-PL" dirty="0"/>
              <a:t>Właściwości operatorów</a:t>
            </a:r>
          </a:p>
        </p:txBody>
      </p:sp>
      <p:pic>
        <p:nvPicPr>
          <p:cNvPr id="13" name="Symbol zastępczy zawartości 12">
            <a:extLst>
              <a:ext uri="{FF2B5EF4-FFF2-40B4-BE49-F238E27FC236}">
                <a16:creationId xmlns:a16="http://schemas.microsoft.com/office/drawing/2014/main" id="{62F86ECB-4A28-468B-B800-6CAAFAB54785}"/>
              </a:ext>
            </a:extLst>
          </p:cNvPr>
          <p:cNvPicPr>
            <a:picLocks noGrp="1" noChangeAspect="1"/>
          </p:cNvPicPr>
          <p:nvPr>
            <p:ph idx="1"/>
          </p:nvPr>
        </p:nvPicPr>
        <p:blipFill>
          <a:blip r:embed="rId2"/>
          <a:stretch>
            <a:fillRect/>
          </a:stretch>
        </p:blipFill>
        <p:spPr>
          <a:xfrm>
            <a:off x="5624821" y="863600"/>
            <a:ext cx="3780807" cy="5121275"/>
          </a:xfrm>
        </p:spPr>
      </p:pic>
    </p:spTree>
    <p:extLst>
      <p:ext uri="{BB962C8B-B14F-4D97-AF65-F5344CB8AC3E}">
        <p14:creationId xmlns:p14="http://schemas.microsoft.com/office/powerpoint/2010/main" val="13977765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B06E5A1-8B64-44F0-9F61-990F78D1FF6F}"/>
              </a:ext>
            </a:extLst>
          </p:cNvPr>
          <p:cNvSpPr>
            <a:spLocks noGrp="1"/>
          </p:cNvSpPr>
          <p:nvPr>
            <p:ph type="title"/>
          </p:nvPr>
        </p:nvSpPr>
        <p:spPr/>
        <p:txBody>
          <a:bodyPr/>
          <a:lstStyle/>
          <a:p>
            <a:r>
              <a:rPr lang="pl-PL" dirty="0"/>
              <a:t>Właściwości planów</a:t>
            </a:r>
          </a:p>
        </p:txBody>
      </p:sp>
      <p:sp>
        <p:nvSpPr>
          <p:cNvPr id="4" name="Symbol zastępczy zawartości 3">
            <a:extLst>
              <a:ext uri="{FF2B5EF4-FFF2-40B4-BE49-F238E27FC236}">
                <a16:creationId xmlns:a16="http://schemas.microsoft.com/office/drawing/2014/main" id="{23F4DFDE-AEB9-4419-A3EF-754ED74CB914}"/>
              </a:ext>
            </a:extLst>
          </p:cNvPr>
          <p:cNvSpPr>
            <a:spLocks noGrp="1"/>
          </p:cNvSpPr>
          <p:nvPr>
            <p:ph idx="1"/>
          </p:nvPr>
        </p:nvSpPr>
        <p:spPr/>
        <p:txBody>
          <a:bodyPr/>
          <a:lstStyle/>
          <a:p>
            <a:endParaRPr lang="pl-PL"/>
          </a:p>
        </p:txBody>
      </p:sp>
      <p:pic>
        <p:nvPicPr>
          <p:cNvPr id="6" name="Obraz 5">
            <a:extLst>
              <a:ext uri="{FF2B5EF4-FFF2-40B4-BE49-F238E27FC236}">
                <a16:creationId xmlns:a16="http://schemas.microsoft.com/office/drawing/2014/main" id="{4AC9AE32-98AA-46D7-B237-A3249D88F013}"/>
              </a:ext>
            </a:extLst>
          </p:cNvPr>
          <p:cNvPicPr>
            <a:picLocks noChangeAspect="1"/>
          </p:cNvPicPr>
          <p:nvPr/>
        </p:nvPicPr>
        <p:blipFill>
          <a:blip r:embed="rId2"/>
          <a:stretch>
            <a:fillRect/>
          </a:stretch>
        </p:blipFill>
        <p:spPr>
          <a:xfrm>
            <a:off x="4204448" y="1269340"/>
            <a:ext cx="3148032" cy="4081298"/>
          </a:xfrm>
          <a:prstGeom prst="rect">
            <a:avLst/>
          </a:prstGeom>
        </p:spPr>
      </p:pic>
      <p:pic>
        <p:nvPicPr>
          <p:cNvPr id="8" name="Obraz 7">
            <a:extLst>
              <a:ext uri="{FF2B5EF4-FFF2-40B4-BE49-F238E27FC236}">
                <a16:creationId xmlns:a16="http://schemas.microsoft.com/office/drawing/2014/main" id="{55A23789-5155-4229-8350-71FC78FAFCA0}"/>
              </a:ext>
            </a:extLst>
          </p:cNvPr>
          <p:cNvPicPr>
            <a:picLocks noChangeAspect="1"/>
          </p:cNvPicPr>
          <p:nvPr/>
        </p:nvPicPr>
        <p:blipFill>
          <a:blip r:embed="rId3"/>
          <a:stretch>
            <a:fillRect/>
          </a:stretch>
        </p:blipFill>
        <p:spPr>
          <a:xfrm>
            <a:off x="8122735" y="1234639"/>
            <a:ext cx="2563179" cy="4490381"/>
          </a:xfrm>
          <a:prstGeom prst="rect">
            <a:avLst/>
          </a:prstGeom>
        </p:spPr>
      </p:pic>
    </p:spTree>
    <p:extLst>
      <p:ext uri="{BB962C8B-B14F-4D97-AF65-F5344CB8AC3E}">
        <p14:creationId xmlns:p14="http://schemas.microsoft.com/office/powerpoint/2010/main" val="38281612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B06E5A1-8B64-44F0-9F61-990F78D1FF6F}"/>
              </a:ext>
            </a:extLst>
          </p:cNvPr>
          <p:cNvSpPr>
            <a:spLocks noGrp="1"/>
          </p:cNvSpPr>
          <p:nvPr>
            <p:ph type="title"/>
          </p:nvPr>
        </p:nvSpPr>
        <p:spPr/>
        <p:txBody>
          <a:bodyPr/>
          <a:lstStyle/>
          <a:p>
            <a:r>
              <a:rPr lang="pl-PL" dirty="0" err="1"/>
              <a:t>Optimization</a:t>
            </a:r>
            <a:r>
              <a:rPr lang="pl-PL" dirty="0"/>
              <a:t> Level</a:t>
            </a:r>
          </a:p>
        </p:txBody>
      </p:sp>
      <p:pic>
        <p:nvPicPr>
          <p:cNvPr id="13" name="Obraz 12">
            <a:extLst>
              <a:ext uri="{FF2B5EF4-FFF2-40B4-BE49-F238E27FC236}">
                <a16:creationId xmlns:a16="http://schemas.microsoft.com/office/drawing/2014/main" id="{8CC90F44-0104-868E-6233-CE29AB183DA7}"/>
              </a:ext>
            </a:extLst>
          </p:cNvPr>
          <p:cNvPicPr>
            <a:picLocks noChangeAspect="1"/>
          </p:cNvPicPr>
          <p:nvPr/>
        </p:nvPicPr>
        <p:blipFill>
          <a:blip r:embed="rId2"/>
          <a:stretch>
            <a:fillRect/>
          </a:stretch>
        </p:blipFill>
        <p:spPr>
          <a:xfrm>
            <a:off x="3779392" y="729390"/>
            <a:ext cx="2809668" cy="3880017"/>
          </a:xfrm>
          <a:prstGeom prst="rect">
            <a:avLst/>
          </a:prstGeom>
        </p:spPr>
      </p:pic>
      <p:sp>
        <p:nvSpPr>
          <p:cNvPr id="15" name="pole tekstowe 14">
            <a:extLst>
              <a:ext uri="{FF2B5EF4-FFF2-40B4-BE49-F238E27FC236}">
                <a16:creationId xmlns:a16="http://schemas.microsoft.com/office/drawing/2014/main" id="{19A7D7BC-5934-C3F9-F29A-DF424C9320FE}"/>
              </a:ext>
            </a:extLst>
          </p:cNvPr>
          <p:cNvSpPr txBox="1"/>
          <p:nvPr/>
        </p:nvSpPr>
        <p:spPr>
          <a:xfrm>
            <a:off x="6893858" y="822738"/>
            <a:ext cx="4390849" cy="3539430"/>
          </a:xfrm>
          <a:prstGeom prst="rect">
            <a:avLst/>
          </a:prstGeom>
          <a:noFill/>
        </p:spPr>
        <p:txBody>
          <a:bodyPr wrap="square">
            <a:spAutoFit/>
          </a:bodyPr>
          <a:lstStyle/>
          <a:p>
            <a:r>
              <a:rPr lang="pl-PL" sz="1400" dirty="0"/>
              <a:t>Optymalizator zapytań programu SQL Server jest optymalizatorem opartym na kosztach i generuje różnych kandydatów na plany zapytań, a następnie decyduje o najbardziej kosztownym planie. </a:t>
            </a:r>
          </a:p>
          <a:p>
            <a:endParaRPr lang="pl-PL" sz="1400" dirty="0"/>
          </a:p>
          <a:p>
            <a:r>
              <a:rPr lang="pl-PL" sz="1400" dirty="0"/>
              <a:t>Scenariusz ulegnie jednak zmianie, jeśli przesłane zapytanie będzie bardzo proste i dostępny będzie tylko jeden możliwy plan. </a:t>
            </a:r>
          </a:p>
          <a:p>
            <a:endParaRPr lang="pl-PL" sz="1400" dirty="0"/>
          </a:p>
          <a:p>
            <a:r>
              <a:rPr lang="pl-PL" sz="1400" dirty="0"/>
              <a:t>W tej sytuacji optymalizator ignoruje znalezienie planu optymalnego, ponieważ wynik tego działania będzie tylko stratą czasu. </a:t>
            </a:r>
          </a:p>
          <a:p>
            <a:endParaRPr lang="pl-PL" sz="1400" dirty="0"/>
          </a:p>
          <a:p>
            <a:r>
              <a:rPr lang="pl-PL" sz="1400" b="1" dirty="0"/>
              <a:t>Plany tego typu nazywamy planami </a:t>
            </a:r>
            <a:r>
              <a:rPr lang="pl-PL" sz="1400" b="1" dirty="0" err="1"/>
              <a:t>TRIVIALNYmi</a:t>
            </a:r>
            <a:r>
              <a:rPr lang="pl-PL" sz="1400" b="1" dirty="0"/>
              <a:t>, które powstają poprzez pominięcie procesów optymalizacji zapytań dla prostych zapytań. </a:t>
            </a:r>
          </a:p>
        </p:txBody>
      </p:sp>
    </p:spTree>
    <p:extLst>
      <p:ext uri="{BB962C8B-B14F-4D97-AF65-F5344CB8AC3E}">
        <p14:creationId xmlns:p14="http://schemas.microsoft.com/office/powerpoint/2010/main" val="6790526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B06E5A1-8B64-44F0-9F61-990F78D1FF6F}"/>
              </a:ext>
            </a:extLst>
          </p:cNvPr>
          <p:cNvSpPr>
            <a:spLocks noGrp="1"/>
          </p:cNvSpPr>
          <p:nvPr>
            <p:ph type="title"/>
          </p:nvPr>
        </p:nvSpPr>
        <p:spPr/>
        <p:txBody>
          <a:bodyPr/>
          <a:lstStyle/>
          <a:p>
            <a:r>
              <a:rPr lang="pl-PL" dirty="0"/>
              <a:t>Koszt operatora</a:t>
            </a:r>
          </a:p>
        </p:txBody>
      </p:sp>
      <p:sp>
        <p:nvSpPr>
          <p:cNvPr id="4" name="Symbol zastępczy zawartości 3">
            <a:extLst>
              <a:ext uri="{FF2B5EF4-FFF2-40B4-BE49-F238E27FC236}">
                <a16:creationId xmlns:a16="http://schemas.microsoft.com/office/drawing/2014/main" id="{23F4DFDE-AEB9-4419-A3EF-754ED74CB914}"/>
              </a:ext>
            </a:extLst>
          </p:cNvPr>
          <p:cNvSpPr>
            <a:spLocks noGrp="1"/>
          </p:cNvSpPr>
          <p:nvPr>
            <p:ph idx="1"/>
          </p:nvPr>
        </p:nvSpPr>
        <p:spPr/>
        <p:txBody>
          <a:bodyPr anchor="t"/>
          <a:lstStyle/>
          <a:p>
            <a:r>
              <a:rPr lang="pl-PL" dirty="0" err="1"/>
              <a:t>Cost</a:t>
            </a:r>
            <a:r>
              <a:rPr lang="pl-PL" dirty="0"/>
              <a:t> to abstrakcyjna wartość</a:t>
            </a:r>
          </a:p>
          <a:p>
            <a:r>
              <a:rPr lang="pl-PL" dirty="0"/>
              <a:t>Dziś to miara bez jednostek</a:t>
            </a:r>
          </a:p>
          <a:p>
            <a:pPr lvl="1"/>
            <a:r>
              <a:rPr lang="pl-PL" dirty="0"/>
              <a:t>To nie czas </a:t>
            </a:r>
          </a:p>
          <a:p>
            <a:pPr lvl="1"/>
            <a:r>
              <a:rPr lang="pl-PL" dirty="0"/>
              <a:t>To nie CPU</a:t>
            </a:r>
          </a:p>
          <a:p>
            <a:r>
              <a:rPr lang="pl-PL" dirty="0"/>
              <a:t>Koszt to ZAWSZE szacunek (</a:t>
            </a:r>
            <a:r>
              <a:rPr lang="pl-PL" dirty="0" err="1"/>
              <a:t>estimate</a:t>
            </a:r>
            <a:r>
              <a:rPr lang="pl-PL" dirty="0"/>
              <a:t>)</a:t>
            </a:r>
          </a:p>
          <a:p>
            <a:r>
              <a:rPr lang="pl-PL" dirty="0"/>
              <a:t>W 1998 roku na komputerze jednego z inżynierów Microsoft powstał ten operator i wtedy oznaczał sekundy (SQL Server 7)</a:t>
            </a:r>
          </a:p>
          <a:p>
            <a:r>
              <a:rPr lang="pl-PL" dirty="0"/>
              <a:t>Dziś operacja trwająca 10 sekund na tamtym komputerze wykona się dużo szybciej</a:t>
            </a:r>
          </a:p>
        </p:txBody>
      </p:sp>
      <p:pic>
        <p:nvPicPr>
          <p:cNvPr id="5" name="Obraz 4">
            <a:extLst>
              <a:ext uri="{FF2B5EF4-FFF2-40B4-BE49-F238E27FC236}">
                <a16:creationId xmlns:a16="http://schemas.microsoft.com/office/drawing/2014/main" id="{75C08CD4-4450-4760-89B7-00B3C393B253}"/>
              </a:ext>
            </a:extLst>
          </p:cNvPr>
          <p:cNvPicPr>
            <a:picLocks noChangeAspect="1"/>
          </p:cNvPicPr>
          <p:nvPr/>
        </p:nvPicPr>
        <p:blipFill>
          <a:blip r:embed="rId2"/>
          <a:stretch>
            <a:fillRect/>
          </a:stretch>
        </p:blipFill>
        <p:spPr>
          <a:xfrm>
            <a:off x="5097654" y="4695081"/>
            <a:ext cx="4858428" cy="390580"/>
          </a:xfrm>
          <a:prstGeom prst="rect">
            <a:avLst/>
          </a:prstGeom>
        </p:spPr>
      </p:pic>
    </p:spTree>
    <p:extLst>
      <p:ext uri="{BB962C8B-B14F-4D97-AF65-F5344CB8AC3E}">
        <p14:creationId xmlns:p14="http://schemas.microsoft.com/office/powerpoint/2010/main" val="28608296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B06E5A1-8B64-44F0-9F61-990F78D1FF6F}"/>
              </a:ext>
            </a:extLst>
          </p:cNvPr>
          <p:cNvSpPr>
            <a:spLocks noGrp="1"/>
          </p:cNvSpPr>
          <p:nvPr>
            <p:ph type="title"/>
          </p:nvPr>
        </p:nvSpPr>
        <p:spPr/>
        <p:txBody>
          <a:bodyPr/>
          <a:lstStyle/>
          <a:p>
            <a:r>
              <a:rPr lang="pl-PL" dirty="0"/>
              <a:t>Koszt operatora</a:t>
            </a:r>
          </a:p>
        </p:txBody>
      </p:sp>
      <p:sp>
        <p:nvSpPr>
          <p:cNvPr id="4" name="Symbol zastępczy zawartości 3">
            <a:extLst>
              <a:ext uri="{FF2B5EF4-FFF2-40B4-BE49-F238E27FC236}">
                <a16:creationId xmlns:a16="http://schemas.microsoft.com/office/drawing/2014/main" id="{23F4DFDE-AEB9-4419-A3EF-754ED74CB914}"/>
              </a:ext>
            </a:extLst>
          </p:cNvPr>
          <p:cNvSpPr>
            <a:spLocks noGrp="1"/>
          </p:cNvSpPr>
          <p:nvPr>
            <p:ph idx="1"/>
          </p:nvPr>
        </p:nvSpPr>
        <p:spPr/>
        <p:txBody>
          <a:bodyPr anchor="t"/>
          <a:lstStyle/>
          <a:p>
            <a:r>
              <a:rPr lang="pl-PL" dirty="0" err="1"/>
              <a:t>Estimated</a:t>
            </a:r>
            <a:r>
              <a:rPr lang="pl-PL" dirty="0"/>
              <a:t> Operator </a:t>
            </a:r>
            <a:r>
              <a:rPr lang="pl-PL" dirty="0" err="1"/>
              <a:t>Cost</a:t>
            </a:r>
            <a:r>
              <a:rPr lang="pl-PL" dirty="0"/>
              <a:t> – szacowany koszt operatora, również procent całej operacji</a:t>
            </a:r>
          </a:p>
          <a:p>
            <a:r>
              <a:rPr lang="pl-PL" b="1" dirty="0" err="1"/>
              <a:t>Estimated</a:t>
            </a:r>
            <a:r>
              <a:rPr lang="pl-PL" b="1" dirty="0"/>
              <a:t> I/O </a:t>
            </a:r>
            <a:r>
              <a:rPr lang="pl-PL" b="1" dirty="0" err="1"/>
              <a:t>cost</a:t>
            </a:r>
            <a:r>
              <a:rPr lang="pl-PL" b="1" dirty="0"/>
              <a:t> - koszt operacji dyskowych</a:t>
            </a:r>
          </a:p>
          <a:p>
            <a:r>
              <a:rPr lang="pl-PL" dirty="0" err="1"/>
              <a:t>Estimated</a:t>
            </a:r>
            <a:r>
              <a:rPr lang="pl-PL" dirty="0"/>
              <a:t> CPU </a:t>
            </a:r>
            <a:r>
              <a:rPr lang="pl-PL" dirty="0" err="1"/>
              <a:t>cost</a:t>
            </a:r>
            <a:r>
              <a:rPr lang="pl-PL" dirty="0"/>
              <a:t> – koszt procesora</a:t>
            </a:r>
          </a:p>
          <a:p>
            <a:r>
              <a:rPr lang="pl-PL" dirty="0" err="1"/>
              <a:t>Estimated</a:t>
            </a:r>
            <a:r>
              <a:rPr lang="pl-PL" dirty="0"/>
              <a:t> </a:t>
            </a:r>
            <a:r>
              <a:rPr lang="pl-PL" dirty="0" err="1"/>
              <a:t>row</a:t>
            </a:r>
            <a:r>
              <a:rPr lang="pl-PL" dirty="0"/>
              <a:t> </a:t>
            </a:r>
            <a:r>
              <a:rPr lang="pl-PL" dirty="0" err="1"/>
              <a:t>size</a:t>
            </a:r>
            <a:r>
              <a:rPr lang="pl-PL" dirty="0"/>
              <a:t> – szacowana liczba wierszy, na jej podstawie określany jest rozmiar pamięci</a:t>
            </a:r>
          </a:p>
          <a:p>
            <a:r>
              <a:rPr lang="pl-PL" dirty="0" err="1"/>
              <a:t>Number</a:t>
            </a:r>
            <a:r>
              <a:rPr lang="pl-PL" dirty="0"/>
              <a:t> of </a:t>
            </a:r>
            <a:r>
              <a:rPr lang="pl-PL" dirty="0" err="1"/>
              <a:t>Executions</a:t>
            </a:r>
            <a:r>
              <a:rPr lang="pl-PL" dirty="0"/>
              <a:t> – ile razy operator był użyty</a:t>
            </a:r>
          </a:p>
          <a:p>
            <a:r>
              <a:rPr lang="pl-PL" b="1" dirty="0" err="1"/>
              <a:t>Actual</a:t>
            </a:r>
            <a:r>
              <a:rPr lang="pl-PL" b="1" dirty="0"/>
              <a:t> and </a:t>
            </a:r>
            <a:r>
              <a:rPr lang="pl-PL" b="1" dirty="0" err="1"/>
              <a:t>Estimated</a:t>
            </a:r>
            <a:r>
              <a:rPr lang="pl-PL" b="1" dirty="0"/>
              <a:t> </a:t>
            </a:r>
            <a:r>
              <a:rPr lang="pl-PL" b="1" dirty="0" err="1"/>
              <a:t>number</a:t>
            </a:r>
            <a:r>
              <a:rPr lang="pl-PL" b="1" dirty="0"/>
              <a:t> of </a:t>
            </a:r>
            <a:r>
              <a:rPr lang="pl-PL" b="1" dirty="0" err="1"/>
              <a:t>rows</a:t>
            </a:r>
            <a:r>
              <a:rPr lang="pl-PL" b="1" dirty="0"/>
              <a:t> – liczba wierszy</a:t>
            </a:r>
          </a:p>
          <a:p>
            <a:r>
              <a:rPr lang="pl-PL" dirty="0" err="1"/>
              <a:t>Actual</a:t>
            </a:r>
            <a:r>
              <a:rPr lang="pl-PL" dirty="0"/>
              <a:t> and </a:t>
            </a:r>
            <a:r>
              <a:rPr lang="pl-PL" dirty="0" err="1"/>
              <a:t>Estimated</a:t>
            </a:r>
            <a:r>
              <a:rPr lang="pl-PL" dirty="0"/>
              <a:t> </a:t>
            </a:r>
            <a:r>
              <a:rPr lang="pl-PL" dirty="0" err="1"/>
              <a:t>execution</a:t>
            </a:r>
            <a:r>
              <a:rPr lang="pl-PL" dirty="0"/>
              <a:t> </a:t>
            </a:r>
            <a:r>
              <a:rPr lang="pl-PL" dirty="0" err="1"/>
              <a:t>mode</a:t>
            </a:r>
            <a:r>
              <a:rPr lang="pl-PL" dirty="0"/>
              <a:t> – </a:t>
            </a:r>
            <a:r>
              <a:rPr lang="pl-PL" dirty="0" err="1"/>
              <a:t>row</a:t>
            </a:r>
            <a:r>
              <a:rPr lang="pl-PL" dirty="0"/>
              <a:t>/ </a:t>
            </a:r>
            <a:r>
              <a:rPr lang="pl-PL" dirty="0" err="1"/>
              <a:t>batch</a:t>
            </a:r>
            <a:endParaRPr lang="pl-PL" dirty="0"/>
          </a:p>
        </p:txBody>
      </p:sp>
      <p:pic>
        <p:nvPicPr>
          <p:cNvPr id="6" name="Obraz 5">
            <a:extLst>
              <a:ext uri="{FF2B5EF4-FFF2-40B4-BE49-F238E27FC236}">
                <a16:creationId xmlns:a16="http://schemas.microsoft.com/office/drawing/2014/main" id="{9626ACCE-C9B8-427B-BE1F-C3D96D197456}"/>
              </a:ext>
            </a:extLst>
          </p:cNvPr>
          <p:cNvPicPr>
            <a:picLocks noChangeAspect="1"/>
          </p:cNvPicPr>
          <p:nvPr/>
        </p:nvPicPr>
        <p:blipFill>
          <a:blip r:embed="rId2"/>
          <a:stretch>
            <a:fillRect/>
          </a:stretch>
        </p:blipFill>
        <p:spPr>
          <a:xfrm>
            <a:off x="9602799" y="3944471"/>
            <a:ext cx="2131941" cy="2761978"/>
          </a:xfrm>
          <a:prstGeom prst="rect">
            <a:avLst/>
          </a:prstGeom>
        </p:spPr>
      </p:pic>
    </p:spTree>
    <p:extLst>
      <p:ext uri="{BB962C8B-B14F-4D97-AF65-F5344CB8AC3E}">
        <p14:creationId xmlns:p14="http://schemas.microsoft.com/office/powerpoint/2010/main" val="26334597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B06E5A1-8B64-44F0-9F61-990F78D1FF6F}"/>
              </a:ext>
            </a:extLst>
          </p:cNvPr>
          <p:cNvSpPr>
            <a:spLocks noGrp="1"/>
          </p:cNvSpPr>
          <p:nvPr>
            <p:ph type="title"/>
          </p:nvPr>
        </p:nvSpPr>
        <p:spPr/>
        <p:txBody>
          <a:bodyPr/>
          <a:lstStyle/>
          <a:p>
            <a:r>
              <a:rPr lang="pl-PL" dirty="0"/>
              <a:t>Jak czytać plan?</a:t>
            </a:r>
          </a:p>
        </p:txBody>
      </p:sp>
      <p:sp>
        <p:nvSpPr>
          <p:cNvPr id="4" name="Symbol zastępczy zawartości 3">
            <a:extLst>
              <a:ext uri="{FF2B5EF4-FFF2-40B4-BE49-F238E27FC236}">
                <a16:creationId xmlns:a16="http://schemas.microsoft.com/office/drawing/2014/main" id="{23F4DFDE-AEB9-4419-A3EF-754ED74CB914}"/>
              </a:ext>
            </a:extLst>
          </p:cNvPr>
          <p:cNvSpPr>
            <a:spLocks noGrp="1"/>
          </p:cNvSpPr>
          <p:nvPr>
            <p:ph idx="1"/>
          </p:nvPr>
        </p:nvSpPr>
        <p:spPr/>
        <p:txBody>
          <a:bodyPr anchor="t"/>
          <a:lstStyle/>
          <a:p>
            <a:r>
              <a:rPr lang="pl-PL" dirty="0"/>
              <a:t>Można go czytać z obu stron	</a:t>
            </a:r>
          </a:p>
          <a:p>
            <a:pPr lvl="1"/>
            <a:r>
              <a:rPr lang="pl-PL" dirty="0"/>
              <a:t>Od lewej do prawej</a:t>
            </a:r>
          </a:p>
          <a:p>
            <a:pPr lvl="1"/>
            <a:r>
              <a:rPr lang="pl-PL" dirty="0"/>
              <a:t>Od prawej do lewej</a:t>
            </a:r>
          </a:p>
          <a:p>
            <a:r>
              <a:rPr lang="pl-PL" dirty="0"/>
              <a:t>FLOW Control (od lewej -&gt; do prawej)</a:t>
            </a:r>
          </a:p>
          <a:p>
            <a:r>
              <a:rPr lang="pl-PL" dirty="0"/>
              <a:t>DATA Control (od prawej -&gt; do lewej)</a:t>
            </a:r>
          </a:p>
          <a:p>
            <a:r>
              <a:rPr lang="pl-PL" dirty="0"/>
              <a:t>Dane o planie otrzymasz z:</a:t>
            </a:r>
          </a:p>
          <a:p>
            <a:pPr lvl="1"/>
            <a:r>
              <a:rPr lang="pl-PL" dirty="0"/>
              <a:t>SQL </a:t>
            </a:r>
            <a:r>
              <a:rPr lang="pl-PL" dirty="0" err="1"/>
              <a:t>Managment</a:t>
            </a:r>
            <a:r>
              <a:rPr lang="pl-PL" dirty="0"/>
              <a:t> Studio – graficznie</a:t>
            </a:r>
          </a:p>
          <a:p>
            <a:pPr lvl="1"/>
            <a:r>
              <a:rPr lang="pl-PL" dirty="0"/>
              <a:t>SQL </a:t>
            </a:r>
            <a:r>
              <a:rPr lang="pl-PL" dirty="0" err="1"/>
              <a:t>Managment</a:t>
            </a:r>
            <a:r>
              <a:rPr lang="pl-PL" dirty="0"/>
              <a:t> Studio – XML</a:t>
            </a:r>
          </a:p>
          <a:p>
            <a:pPr lvl="1"/>
            <a:r>
              <a:rPr lang="pl-PL" dirty="0"/>
              <a:t>SQL </a:t>
            </a:r>
            <a:r>
              <a:rPr lang="pl-PL" dirty="0" err="1"/>
              <a:t>Sentry</a:t>
            </a:r>
            <a:r>
              <a:rPr lang="pl-PL" dirty="0"/>
              <a:t> Plan Explorer</a:t>
            </a:r>
          </a:p>
          <a:p>
            <a:pPr marL="0" indent="0">
              <a:buNone/>
            </a:pPr>
            <a:endParaRPr lang="pl-PL" dirty="0"/>
          </a:p>
        </p:txBody>
      </p:sp>
      <p:pic>
        <p:nvPicPr>
          <p:cNvPr id="8" name="Obraz 7">
            <a:extLst>
              <a:ext uri="{FF2B5EF4-FFF2-40B4-BE49-F238E27FC236}">
                <a16:creationId xmlns:a16="http://schemas.microsoft.com/office/drawing/2014/main" id="{70D1CF26-D2EC-E44A-3C6E-D8505536A29B}"/>
              </a:ext>
            </a:extLst>
          </p:cNvPr>
          <p:cNvPicPr>
            <a:picLocks noChangeAspect="1"/>
          </p:cNvPicPr>
          <p:nvPr/>
        </p:nvPicPr>
        <p:blipFill>
          <a:blip r:embed="rId2"/>
          <a:stretch>
            <a:fillRect/>
          </a:stretch>
        </p:blipFill>
        <p:spPr>
          <a:xfrm>
            <a:off x="3499024" y="4572479"/>
            <a:ext cx="8155947" cy="2190312"/>
          </a:xfrm>
          <a:prstGeom prst="rect">
            <a:avLst/>
          </a:prstGeom>
        </p:spPr>
      </p:pic>
    </p:spTree>
    <p:extLst>
      <p:ext uri="{BB962C8B-B14F-4D97-AF65-F5344CB8AC3E}">
        <p14:creationId xmlns:p14="http://schemas.microsoft.com/office/powerpoint/2010/main" val="3054456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B06E5A1-8B64-44F0-9F61-990F78D1FF6F}"/>
              </a:ext>
            </a:extLst>
          </p:cNvPr>
          <p:cNvSpPr>
            <a:spLocks noGrp="1"/>
          </p:cNvSpPr>
          <p:nvPr>
            <p:ph type="title"/>
          </p:nvPr>
        </p:nvSpPr>
        <p:spPr/>
        <p:txBody>
          <a:bodyPr/>
          <a:lstStyle/>
          <a:p>
            <a:r>
              <a:rPr lang="pl-PL" dirty="0"/>
              <a:t>Właściwości planu</a:t>
            </a:r>
          </a:p>
        </p:txBody>
      </p:sp>
      <p:sp>
        <p:nvSpPr>
          <p:cNvPr id="4" name="Symbol zastępczy zawartości 3">
            <a:extLst>
              <a:ext uri="{FF2B5EF4-FFF2-40B4-BE49-F238E27FC236}">
                <a16:creationId xmlns:a16="http://schemas.microsoft.com/office/drawing/2014/main" id="{23F4DFDE-AEB9-4419-A3EF-754ED74CB914}"/>
              </a:ext>
            </a:extLst>
          </p:cNvPr>
          <p:cNvSpPr>
            <a:spLocks noGrp="1"/>
          </p:cNvSpPr>
          <p:nvPr>
            <p:ph idx="1"/>
          </p:nvPr>
        </p:nvSpPr>
        <p:spPr/>
        <p:txBody>
          <a:bodyPr anchor="t"/>
          <a:lstStyle/>
          <a:p>
            <a:r>
              <a:rPr lang="pl-PL" b="1" dirty="0" err="1"/>
              <a:t>Cached</a:t>
            </a:r>
            <a:r>
              <a:rPr lang="pl-PL" b="1" dirty="0"/>
              <a:t> Plan </a:t>
            </a:r>
            <a:r>
              <a:rPr lang="pl-PL" b="1" dirty="0" err="1"/>
              <a:t>Size</a:t>
            </a:r>
            <a:r>
              <a:rPr lang="pl-PL" b="1" dirty="0"/>
              <a:t> </a:t>
            </a:r>
            <a:r>
              <a:rPr lang="pl-PL" dirty="0"/>
              <a:t>– rozmiar pamięci potrzebnej na zapisanie planu</a:t>
            </a:r>
          </a:p>
          <a:p>
            <a:r>
              <a:rPr lang="pl-PL" b="1" dirty="0" err="1"/>
              <a:t>Degree</a:t>
            </a:r>
            <a:r>
              <a:rPr lang="pl-PL" b="1" dirty="0"/>
              <a:t> of </a:t>
            </a:r>
            <a:r>
              <a:rPr lang="pl-PL" b="1" dirty="0" err="1"/>
              <a:t>Parallesim</a:t>
            </a:r>
            <a:r>
              <a:rPr lang="pl-PL" b="1" dirty="0"/>
              <a:t> </a:t>
            </a:r>
            <a:r>
              <a:rPr lang="pl-PL" dirty="0"/>
              <a:t>– stopień zrównoleglenia</a:t>
            </a:r>
          </a:p>
          <a:p>
            <a:r>
              <a:rPr lang="pl-PL" b="1" dirty="0" err="1"/>
              <a:t>Estimated</a:t>
            </a:r>
            <a:r>
              <a:rPr lang="pl-PL" b="1" dirty="0"/>
              <a:t> </a:t>
            </a:r>
            <a:r>
              <a:rPr lang="pl-PL" b="1" dirty="0" err="1"/>
              <a:t>Subtree</a:t>
            </a:r>
            <a:r>
              <a:rPr lang="pl-PL" b="1" dirty="0"/>
              <a:t> </a:t>
            </a:r>
            <a:r>
              <a:rPr lang="pl-PL" b="1" dirty="0" err="1"/>
              <a:t>Cost</a:t>
            </a:r>
            <a:r>
              <a:rPr lang="pl-PL" b="1" dirty="0"/>
              <a:t> </a:t>
            </a:r>
            <a:r>
              <a:rPr lang="pl-PL" dirty="0"/>
              <a:t>– szacowany koszt planu zapytania (suma kosztów poszczególnych operatorów)</a:t>
            </a:r>
          </a:p>
          <a:p>
            <a:r>
              <a:rPr lang="pl-PL" b="1" dirty="0"/>
              <a:t>Memory Grant </a:t>
            </a:r>
            <a:r>
              <a:rPr lang="pl-PL" dirty="0"/>
              <a:t>– zarezerwowana pamięć na potrzeby wykonywania zapytania (w szczególności </a:t>
            </a:r>
            <a:r>
              <a:rPr lang="pl-PL" dirty="0" err="1"/>
              <a:t>Hash</a:t>
            </a:r>
            <a:r>
              <a:rPr lang="pl-PL" dirty="0"/>
              <a:t> </a:t>
            </a:r>
            <a:r>
              <a:rPr lang="pl-PL" dirty="0" err="1"/>
              <a:t>Match</a:t>
            </a:r>
            <a:r>
              <a:rPr lang="pl-PL" dirty="0"/>
              <a:t>/ Sort)</a:t>
            </a:r>
          </a:p>
          <a:p>
            <a:r>
              <a:rPr lang="pl-PL" b="1" dirty="0" err="1"/>
              <a:t>Estimated</a:t>
            </a:r>
            <a:r>
              <a:rPr lang="pl-PL" b="1" dirty="0"/>
              <a:t> </a:t>
            </a:r>
            <a:r>
              <a:rPr lang="pl-PL" b="1" dirty="0" err="1"/>
              <a:t>Number</a:t>
            </a:r>
            <a:r>
              <a:rPr lang="pl-PL" b="1" dirty="0"/>
              <a:t> of </a:t>
            </a:r>
            <a:r>
              <a:rPr lang="pl-PL" b="1" dirty="0" err="1"/>
              <a:t>Rows</a:t>
            </a:r>
            <a:r>
              <a:rPr lang="pl-PL" b="1" dirty="0"/>
              <a:t> </a:t>
            </a:r>
            <a:r>
              <a:rPr lang="pl-PL" dirty="0"/>
              <a:t>– szacowana liczba wierszy, na podstawie statystyk</a:t>
            </a:r>
          </a:p>
        </p:txBody>
      </p:sp>
      <p:pic>
        <p:nvPicPr>
          <p:cNvPr id="5" name="Obraz 4">
            <a:extLst>
              <a:ext uri="{FF2B5EF4-FFF2-40B4-BE49-F238E27FC236}">
                <a16:creationId xmlns:a16="http://schemas.microsoft.com/office/drawing/2014/main" id="{1F9997DD-AFF7-4F73-83FF-8CBC62A27611}"/>
              </a:ext>
            </a:extLst>
          </p:cNvPr>
          <p:cNvPicPr>
            <a:picLocks noChangeAspect="1"/>
          </p:cNvPicPr>
          <p:nvPr/>
        </p:nvPicPr>
        <p:blipFill>
          <a:blip r:embed="rId2"/>
          <a:stretch>
            <a:fillRect/>
          </a:stretch>
        </p:blipFill>
        <p:spPr>
          <a:xfrm>
            <a:off x="7904972" y="3498258"/>
            <a:ext cx="3105583" cy="3124636"/>
          </a:xfrm>
          <a:prstGeom prst="rect">
            <a:avLst/>
          </a:prstGeom>
        </p:spPr>
      </p:pic>
    </p:spTree>
    <p:extLst>
      <p:ext uri="{BB962C8B-B14F-4D97-AF65-F5344CB8AC3E}">
        <p14:creationId xmlns:p14="http://schemas.microsoft.com/office/powerpoint/2010/main" val="30842637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B06E5A1-8B64-44F0-9F61-990F78D1FF6F}"/>
              </a:ext>
            </a:extLst>
          </p:cNvPr>
          <p:cNvSpPr>
            <a:spLocks noGrp="1"/>
          </p:cNvSpPr>
          <p:nvPr>
            <p:ph type="title"/>
          </p:nvPr>
        </p:nvSpPr>
        <p:spPr/>
        <p:txBody>
          <a:bodyPr/>
          <a:lstStyle/>
          <a:p>
            <a:r>
              <a:rPr lang="pl-PL" dirty="0"/>
              <a:t>Operatory – dostępy do danych</a:t>
            </a:r>
          </a:p>
        </p:txBody>
      </p:sp>
      <p:sp>
        <p:nvSpPr>
          <p:cNvPr id="4" name="Symbol zastępczy zawartości 3">
            <a:extLst>
              <a:ext uri="{FF2B5EF4-FFF2-40B4-BE49-F238E27FC236}">
                <a16:creationId xmlns:a16="http://schemas.microsoft.com/office/drawing/2014/main" id="{23F4DFDE-AEB9-4419-A3EF-754ED74CB914}"/>
              </a:ext>
            </a:extLst>
          </p:cNvPr>
          <p:cNvSpPr>
            <a:spLocks noGrp="1"/>
          </p:cNvSpPr>
          <p:nvPr>
            <p:ph idx="1"/>
          </p:nvPr>
        </p:nvSpPr>
        <p:spPr/>
        <p:txBody>
          <a:bodyPr anchor="t"/>
          <a:lstStyle/>
          <a:p>
            <a:r>
              <a:rPr lang="pl-PL" dirty="0" err="1"/>
              <a:t>Clustered</a:t>
            </a:r>
            <a:r>
              <a:rPr lang="pl-PL" dirty="0"/>
              <a:t> Index </a:t>
            </a:r>
            <a:r>
              <a:rPr lang="pl-PL" dirty="0" err="1"/>
              <a:t>Seek</a:t>
            </a:r>
            <a:r>
              <a:rPr lang="pl-PL" dirty="0"/>
              <a:t> (1)</a:t>
            </a:r>
          </a:p>
          <a:p>
            <a:r>
              <a:rPr lang="pl-PL" dirty="0"/>
              <a:t>Index </a:t>
            </a:r>
            <a:r>
              <a:rPr lang="pl-PL" dirty="0" err="1"/>
              <a:t>Seek</a:t>
            </a:r>
            <a:r>
              <a:rPr lang="pl-PL" dirty="0"/>
              <a:t> (2)</a:t>
            </a:r>
          </a:p>
          <a:p>
            <a:r>
              <a:rPr lang="pl-PL" dirty="0" err="1"/>
              <a:t>Clustered</a:t>
            </a:r>
            <a:r>
              <a:rPr lang="pl-PL" dirty="0"/>
              <a:t> Index Scan (3)</a:t>
            </a:r>
          </a:p>
          <a:p>
            <a:r>
              <a:rPr lang="pl-PL" dirty="0"/>
              <a:t>Index Scan (</a:t>
            </a:r>
            <a:r>
              <a:rPr lang="pl-PL" dirty="0" err="1"/>
              <a:t>Nonclustered</a:t>
            </a:r>
            <a:r>
              <a:rPr lang="pl-PL" dirty="0"/>
              <a:t>) (4)</a:t>
            </a:r>
          </a:p>
          <a:p>
            <a:r>
              <a:rPr lang="pl-PL" dirty="0" err="1"/>
              <a:t>Key</a:t>
            </a:r>
            <a:r>
              <a:rPr lang="pl-PL" dirty="0"/>
              <a:t> </a:t>
            </a:r>
            <a:r>
              <a:rPr lang="pl-PL" dirty="0" err="1"/>
              <a:t>Lookup</a:t>
            </a:r>
            <a:r>
              <a:rPr lang="pl-PL" dirty="0"/>
              <a:t> – doczytujemy z indeksu klastrowego (5)</a:t>
            </a:r>
          </a:p>
          <a:p>
            <a:r>
              <a:rPr lang="pl-PL" dirty="0">
                <a:solidFill>
                  <a:srgbClr val="FF0000"/>
                </a:solidFill>
              </a:rPr>
              <a:t>RID </a:t>
            </a:r>
            <a:r>
              <a:rPr lang="pl-PL" dirty="0" err="1">
                <a:solidFill>
                  <a:srgbClr val="FF0000"/>
                </a:solidFill>
              </a:rPr>
              <a:t>Lookup</a:t>
            </a:r>
            <a:r>
              <a:rPr lang="pl-PL" dirty="0">
                <a:solidFill>
                  <a:srgbClr val="FF0000"/>
                </a:solidFill>
              </a:rPr>
              <a:t> – doczytujemy ze sterty (6)</a:t>
            </a:r>
          </a:p>
          <a:p>
            <a:r>
              <a:rPr lang="pl-PL" dirty="0" err="1">
                <a:solidFill>
                  <a:srgbClr val="FF0000"/>
                </a:solidFill>
              </a:rPr>
              <a:t>Table</a:t>
            </a:r>
            <a:r>
              <a:rPr lang="pl-PL" dirty="0">
                <a:solidFill>
                  <a:srgbClr val="FF0000"/>
                </a:solidFill>
              </a:rPr>
              <a:t> </a:t>
            </a:r>
            <a:r>
              <a:rPr lang="pl-PL" dirty="0" err="1">
                <a:solidFill>
                  <a:srgbClr val="FF0000"/>
                </a:solidFill>
              </a:rPr>
              <a:t>scan</a:t>
            </a:r>
            <a:r>
              <a:rPr lang="pl-PL" dirty="0">
                <a:solidFill>
                  <a:srgbClr val="FF0000"/>
                </a:solidFill>
              </a:rPr>
              <a:t> </a:t>
            </a:r>
            <a:r>
              <a:rPr lang="pl-PL" b="1" dirty="0">
                <a:solidFill>
                  <a:srgbClr val="FF0000"/>
                </a:solidFill>
              </a:rPr>
              <a:t>– </a:t>
            </a:r>
            <a:r>
              <a:rPr lang="pl-PL" dirty="0">
                <a:solidFill>
                  <a:srgbClr val="FF0000"/>
                </a:solidFill>
              </a:rPr>
              <a:t>tylko na stercie (7)</a:t>
            </a:r>
          </a:p>
          <a:p>
            <a:pPr marL="0" indent="0">
              <a:buNone/>
            </a:pPr>
            <a:endParaRPr lang="pl-PL" dirty="0"/>
          </a:p>
        </p:txBody>
      </p:sp>
    </p:spTree>
    <p:extLst>
      <p:ext uri="{BB962C8B-B14F-4D97-AF65-F5344CB8AC3E}">
        <p14:creationId xmlns:p14="http://schemas.microsoft.com/office/powerpoint/2010/main" val="11301997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B06E5A1-8B64-44F0-9F61-990F78D1FF6F}"/>
              </a:ext>
            </a:extLst>
          </p:cNvPr>
          <p:cNvSpPr>
            <a:spLocks noGrp="1"/>
          </p:cNvSpPr>
          <p:nvPr>
            <p:ph type="title"/>
          </p:nvPr>
        </p:nvSpPr>
        <p:spPr/>
        <p:txBody>
          <a:bodyPr/>
          <a:lstStyle/>
          <a:p>
            <a:r>
              <a:rPr lang="pl-PL" dirty="0"/>
              <a:t>Kluczowe elementy w </a:t>
            </a:r>
            <a:r>
              <a:rPr lang="pl-PL"/>
              <a:t>planie zapytania</a:t>
            </a:r>
            <a:endParaRPr lang="pl-PL" dirty="0"/>
          </a:p>
        </p:txBody>
      </p:sp>
      <p:sp>
        <p:nvSpPr>
          <p:cNvPr id="4" name="Symbol zastępczy zawartości 3">
            <a:extLst>
              <a:ext uri="{FF2B5EF4-FFF2-40B4-BE49-F238E27FC236}">
                <a16:creationId xmlns:a16="http://schemas.microsoft.com/office/drawing/2014/main" id="{23F4DFDE-AEB9-4419-A3EF-754ED74CB914}"/>
              </a:ext>
            </a:extLst>
          </p:cNvPr>
          <p:cNvSpPr>
            <a:spLocks noGrp="1"/>
          </p:cNvSpPr>
          <p:nvPr>
            <p:ph idx="1"/>
          </p:nvPr>
        </p:nvSpPr>
        <p:spPr/>
        <p:txBody>
          <a:bodyPr anchor="t"/>
          <a:lstStyle/>
          <a:p>
            <a:r>
              <a:rPr lang="pl-PL" dirty="0"/>
              <a:t>Sprawdź pierwszy operator</a:t>
            </a:r>
          </a:p>
          <a:p>
            <a:r>
              <a:rPr lang="pl-PL" dirty="0"/>
              <a:t>Znajdź najbardziej wymagające operatory</a:t>
            </a:r>
          </a:p>
          <a:p>
            <a:r>
              <a:rPr lang="pl-PL" dirty="0"/>
              <a:t>Ostrzeżenia</a:t>
            </a:r>
          </a:p>
          <a:p>
            <a:r>
              <a:rPr lang="pl-PL" dirty="0"/>
              <a:t>Nieznane operatory</a:t>
            </a:r>
          </a:p>
          <a:p>
            <a:r>
              <a:rPr lang="pl-PL" dirty="0"/>
              <a:t>Grube strzałki pomiędzy operatorami(przesłanie sporej ilości danych)</a:t>
            </a:r>
          </a:p>
          <a:p>
            <a:r>
              <a:rPr lang="pl-PL" dirty="0"/>
              <a:t>Operator skanowania (nie zawsze jest problemem)</a:t>
            </a:r>
          </a:p>
          <a:p>
            <a:r>
              <a:rPr lang="pl-PL" dirty="0"/>
              <a:t>Estymowany vs aktualny plan zapytania</a:t>
            </a:r>
          </a:p>
          <a:p>
            <a:pPr marL="0" indent="0">
              <a:buNone/>
            </a:pPr>
            <a:endParaRPr lang="pl-PL" dirty="0"/>
          </a:p>
        </p:txBody>
      </p:sp>
    </p:spTree>
    <p:extLst>
      <p:ext uri="{BB962C8B-B14F-4D97-AF65-F5344CB8AC3E}">
        <p14:creationId xmlns:p14="http://schemas.microsoft.com/office/powerpoint/2010/main" val="17970029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B06E5A1-8B64-44F0-9F61-990F78D1FF6F}"/>
              </a:ext>
            </a:extLst>
          </p:cNvPr>
          <p:cNvSpPr>
            <a:spLocks noGrp="1"/>
          </p:cNvSpPr>
          <p:nvPr>
            <p:ph type="title"/>
          </p:nvPr>
        </p:nvSpPr>
        <p:spPr/>
        <p:txBody>
          <a:bodyPr/>
          <a:lstStyle/>
          <a:p>
            <a:r>
              <a:rPr lang="pl-PL" dirty="0"/>
              <a:t>Operatory – Łączenie danych</a:t>
            </a:r>
          </a:p>
        </p:txBody>
      </p:sp>
      <p:sp>
        <p:nvSpPr>
          <p:cNvPr id="4" name="Symbol zastępczy zawartości 3">
            <a:extLst>
              <a:ext uri="{FF2B5EF4-FFF2-40B4-BE49-F238E27FC236}">
                <a16:creationId xmlns:a16="http://schemas.microsoft.com/office/drawing/2014/main" id="{23F4DFDE-AEB9-4419-A3EF-754ED74CB914}"/>
              </a:ext>
            </a:extLst>
          </p:cNvPr>
          <p:cNvSpPr>
            <a:spLocks noGrp="1"/>
          </p:cNvSpPr>
          <p:nvPr>
            <p:ph idx="1"/>
          </p:nvPr>
        </p:nvSpPr>
        <p:spPr/>
        <p:txBody>
          <a:bodyPr anchor="t"/>
          <a:lstStyle/>
          <a:p>
            <a:r>
              <a:rPr lang="pl-PL" b="1" dirty="0" err="1"/>
              <a:t>Nested</a:t>
            </a:r>
            <a:r>
              <a:rPr lang="pl-PL" b="1" dirty="0"/>
              <a:t> </a:t>
            </a:r>
            <a:r>
              <a:rPr lang="pl-PL" b="1" dirty="0" err="1"/>
              <a:t>Loops</a:t>
            </a:r>
            <a:r>
              <a:rPr lang="pl-PL" b="1" dirty="0"/>
              <a:t> </a:t>
            </a:r>
            <a:r>
              <a:rPr lang="pl-PL" b="1" dirty="0" err="1"/>
              <a:t>Join</a:t>
            </a:r>
            <a:endParaRPr lang="pl-PL" b="1" dirty="0"/>
          </a:p>
          <a:p>
            <a:pPr lvl="1"/>
            <a:r>
              <a:rPr lang="pl-PL" dirty="0"/>
              <a:t>Wsad zewnętrzny wykonywany tylko raz, a wewnętrzny w pętli</a:t>
            </a:r>
          </a:p>
          <a:p>
            <a:r>
              <a:rPr lang="pl-PL" b="1" dirty="0" err="1"/>
              <a:t>Merge</a:t>
            </a:r>
            <a:r>
              <a:rPr lang="pl-PL" b="1" dirty="0"/>
              <a:t> </a:t>
            </a:r>
            <a:r>
              <a:rPr lang="pl-PL" b="1" dirty="0" err="1"/>
              <a:t>Join</a:t>
            </a:r>
            <a:endParaRPr lang="pl-PL" b="1" dirty="0"/>
          </a:p>
          <a:p>
            <a:pPr lvl="1"/>
            <a:r>
              <a:rPr lang="pl-PL" dirty="0"/>
              <a:t>Oba operatory odczytujące dane są wykonywane tylko raz, ale muszą być posortowane zgodnie z kluczem złączenia</a:t>
            </a:r>
          </a:p>
          <a:p>
            <a:r>
              <a:rPr lang="pl-PL" b="1" dirty="0" err="1"/>
              <a:t>Hash</a:t>
            </a:r>
            <a:r>
              <a:rPr lang="pl-PL" b="1" dirty="0"/>
              <a:t> </a:t>
            </a:r>
            <a:r>
              <a:rPr lang="pl-PL" b="1" dirty="0" err="1"/>
              <a:t>Match</a:t>
            </a:r>
            <a:endParaRPr lang="pl-PL" b="1" dirty="0"/>
          </a:p>
          <a:p>
            <a:pPr lvl="1"/>
            <a:r>
              <a:rPr lang="pl-PL" dirty="0"/>
              <a:t>Używany dla dużych, nieposortowanych tabel</a:t>
            </a:r>
          </a:p>
          <a:p>
            <a:pPr lvl="1"/>
            <a:r>
              <a:rPr lang="pl-PL" dirty="0"/>
              <a:t>Dla mniejszej tabeli tworzona jest tabela haszująca w pamięci</a:t>
            </a:r>
          </a:p>
        </p:txBody>
      </p:sp>
    </p:spTree>
    <p:extLst>
      <p:ext uri="{BB962C8B-B14F-4D97-AF65-F5344CB8AC3E}">
        <p14:creationId xmlns:p14="http://schemas.microsoft.com/office/powerpoint/2010/main" val="33102998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B06E5A1-8B64-44F0-9F61-990F78D1FF6F}"/>
              </a:ext>
            </a:extLst>
          </p:cNvPr>
          <p:cNvSpPr>
            <a:spLocks noGrp="1"/>
          </p:cNvSpPr>
          <p:nvPr>
            <p:ph type="title"/>
          </p:nvPr>
        </p:nvSpPr>
        <p:spPr/>
        <p:txBody>
          <a:bodyPr/>
          <a:lstStyle/>
          <a:p>
            <a:r>
              <a:rPr lang="pl-PL" dirty="0"/>
              <a:t>Operatory – Grupowanie</a:t>
            </a:r>
          </a:p>
        </p:txBody>
      </p:sp>
      <p:sp>
        <p:nvSpPr>
          <p:cNvPr id="4" name="Symbol zastępczy zawartości 3">
            <a:extLst>
              <a:ext uri="{FF2B5EF4-FFF2-40B4-BE49-F238E27FC236}">
                <a16:creationId xmlns:a16="http://schemas.microsoft.com/office/drawing/2014/main" id="{23F4DFDE-AEB9-4419-A3EF-754ED74CB914}"/>
              </a:ext>
            </a:extLst>
          </p:cNvPr>
          <p:cNvSpPr>
            <a:spLocks noGrp="1"/>
          </p:cNvSpPr>
          <p:nvPr>
            <p:ph idx="1"/>
          </p:nvPr>
        </p:nvSpPr>
        <p:spPr/>
        <p:txBody>
          <a:bodyPr anchor="t"/>
          <a:lstStyle/>
          <a:p>
            <a:r>
              <a:rPr lang="pl-PL" b="1" dirty="0" err="1"/>
              <a:t>Stream</a:t>
            </a:r>
            <a:r>
              <a:rPr lang="pl-PL" b="1" dirty="0"/>
              <a:t> </a:t>
            </a:r>
            <a:r>
              <a:rPr lang="pl-PL" b="1" dirty="0" err="1"/>
              <a:t>Aggregate</a:t>
            </a:r>
            <a:endParaRPr lang="pl-PL" b="1" dirty="0"/>
          </a:p>
          <a:p>
            <a:pPr lvl="1"/>
            <a:r>
              <a:rPr lang="pl-PL" dirty="0"/>
              <a:t>Dane muszą być posortowane po kolumnie z klauzuli GROUP BY</a:t>
            </a:r>
          </a:p>
          <a:p>
            <a:r>
              <a:rPr lang="pl-PL" b="1" dirty="0" err="1"/>
              <a:t>Hash</a:t>
            </a:r>
            <a:r>
              <a:rPr lang="pl-PL" b="1" dirty="0"/>
              <a:t> </a:t>
            </a:r>
            <a:r>
              <a:rPr lang="pl-PL" b="1" dirty="0" err="1"/>
              <a:t>Aggregate</a:t>
            </a:r>
            <a:endParaRPr lang="pl-PL" b="1" dirty="0"/>
          </a:p>
          <a:p>
            <a:pPr lvl="1"/>
            <a:r>
              <a:rPr lang="pl-PL" dirty="0"/>
              <a:t>Tworzy tabelę </a:t>
            </a:r>
            <a:r>
              <a:rPr lang="pl-PL" dirty="0" err="1"/>
              <a:t>hash-ującą</a:t>
            </a:r>
            <a:r>
              <a:rPr lang="pl-PL" dirty="0"/>
              <a:t> żeby zdefiniować grupy</a:t>
            </a:r>
          </a:p>
        </p:txBody>
      </p:sp>
    </p:spTree>
    <p:extLst>
      <p:ext uri="{BB962C8B-B14F-4D97-AF65-F5344CB8AC3E}">
        <p14:creationId xmlns:p14="http://schemas.microsoft.com/office/powerpoint/2010/main" val="27675324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B06E5A1-8B64-44F0-9F61-990F78D1FF6F}"/>
              </a:ext>
            </a:extLst>
          </p:cNvPr>
          <p:cNvSpPr>
            <a:spLocks noGrp="1"/>
          </p:cNvSpPr>
          <p:nvPr>
            <p:ph type="title"/>
          </p:nvPr>
        </p:nvSpPr>
        <p:spPr/>
        <p:txBody>
          <a:bodyPr/>
          <a:lstStyle/>
          <a:p>
            <a:r>
              <a:rPr lang="pl-PL" dirty="0"/>
              <a:t>Operatory – </a:t>
            </a:r>
            <a:r>
              <a:rPr lang="pl-PL" dirty="0" err="1"/>
              <a:t>Compute</a:t>
            </a:r>
            <a:r>
              <a:rPr lang="pl-PL" dirty="0"/>
              <a:t> </a:t>
            </a:r>
            <a:r>
              <a:rPr lang="pl-PL" dirty="0" err="1"/>
              <a:t>Scalar</a:t>
            </a:r>
            <a:endParaRPr lang="pl-PL" dirty="0"/>
          </a:p>
        </p:txBody>
      </p:sp>
      <p:sp>
        <p:nvSpPr>
          <p:cNvPr id="4" name="Symbol zastępczy zawartości 3">
            <a:extLst>
              <a:ext uri="{FF2B5EF4-FFF2-40B4-BE49-F238E27FC236}">
                <a16:creationId xmlns:a16="http://schemas.microsoft.com/office/drawing/2014/main" id="{23F4DFDE-AEB9-4419-A3EF-754ED74CB914}"/>
              </a:ext>
            </a:extLst>
          </p:cNvPr>
          <p:cNvSpPr>
            <a:spLocks noGrp="1"/>
          </p:cNvSpPr>
          <p:nvPr>
            <p:ph idx="1"/>
          </p:nvPr>
        </p:nvSpPr>
        <p:spPr/>
        <p:txBody>
          <a:bodyPr anchor="t"/>
          <a:lstStyle/>
          <a:p>
            <a:r>
              <a:rPr lang="pl-PL" b="1" dirty="0" err="1"/>
              <a:t>Compute</a:t>
            </a:r>
            <a:r>
              <a:rPr lang="pl-PL" b="1" dirty="0"/>
              <a:t> </a:t>
            </a:r>
            <a:r>
              <a:rPr lang="pl-PL" b="1" dirty="0" err="1"/>
              <a:t>Scalar</a:t>
            </a:r>
            <a:endParaRPr lang="pl-PL" b="1" dirty="0"/>
          </a:p>
          <a:p>
            <a:pPr lvl="1"/>
            <a:r>
              <a:rPr lang="pl-PL" dirty="0"/>
              <a:t>Służy do obliczania nowych wartości na podstawie innych kolumn w tym samym wierszu. Te nowe wartości są następnie dodawane jako dodatkowe kolumny w wierszach wyjściowych</a:t>
            </a:r>
          </a:p>
          <a:p>
            <a:pPr lvl="1"/>
            <a:r>
              <a:rPr lang="pl-PL" dirty="0"/>
              <a:t>Koszt w zasadzie nie może istnieć (zwłaszcza dla funkcji zdefiniowanych przez użytkownika)</a:t>
            </a:r>
          </a:p>
          <a:p>
            <a:pPr lvl="1"/>
            <a:r>
              <a:rPr lang="pl-PL" dirty="0"/>
              <a:t>W rezultacie szacowany koszt może być naprawdę niski i totalnie mylący dla optymalizatora</a:t>
            </a:r>
          </a:p>
          <a:p>
            <a:pPr marL="502920" lvl="1" indent="0">
              <a:buNone/>
            </a:pPr>
            <a:endParaRPr lang="pl-PL" dirty="0"/>
          </a:p>
          <a:p>
            <a:pPr marL="960120" lvl="2" indent="0">
              <a:buNone/>
            </a:pPr>
            <a:endParaRPr lang="pl-PL" dirty="0"/>
          </a:p>
        </p:txBody>
      </p:sp>
      <p:pic>
        <p:nvPicPr>
          <p:cNvPr id="5" name="Obraz 4">
            <a:extLst>
              <a:ext uri="{FF2B5EF4-FFF2-40B4-BE49-F238E27FC236}">
                <a16:creationId xmlns:a16="http://schemas.microsoft.com/office/drawing/2014/main" id="{754BEF04-3B13-7FDD-B2D8-FE9D367D5B9D}"/>
              </a:ext>
            </a:extLst>
          </p:cNvPr>
          <p:cNvPicPr>
            <a:picLocks noChangeAspect="1"/>
          </p:cNvPicPr>
          <p:nvPr/>
        </p:nvPicPr>
        <p:blipFill>
          <a:blip r:embed="rId2"/>
          <a:stretch>
            <a:fillRect/>
          </a:stretch>
        </p:blipFill>
        <p:spPr>
          <a:xfrm>
            <a:off x="4812163" y="4434939"/>
            <a:ext cx="6544588" cy="1181265"/>
          </a:xfrm>
          <a:prstGeom prst="rect">
            <a:avLst/>
          </a:prstGeom>
        </p:spPr>
      </p:pic>
    </p:spTree>
    <p:extLst>
      <p:ext uri="{BB962C8B-B14F-4D97-AF65-F5344CB8AC3E}">
        <p14:creationId xmlns:p14="http://schemas.microsoft.com/office/powerpoint/2010/main" val="10186847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B06E5A1-8B64-44F0-9F61-990F78D1FF6F}"/>
              </a:ext>
            </a:extLst>
          </p:cNvPr>
          <p:cNvSpPr>
            <a:spLocks noGrp="1"/>
          </p:cNvSpPr>
          <p:nvPr>
            <p:ph type="title"/>
          </p:nvPr>
        </p:nvSpPr>
        <p:spPr/>
        <p:txBody>
          <a:bodyPr/>
          <a:lstStyle/>
          <a:p>
            <a:r>
              <a:rPr lang="pl-PL" dirty="0"/>
              <a:t>Operatory – usuwanie duplikatów</a:t>
            </a:r>
          </a:p>
        </p:txBody>
      </p:sp>
      <p:sp>
        <p:nvSpPr>
          <p:cNvPr id="4" name="Symbol zastępczy zawartości 3">
            <a:extLst>
              <a:ext uri="{FF2B5EF4-FFF2-40B4-BE49-F238E27FC236}">
                <a16:creationId xmlns:a16="http://schemas.microsoft.com/office/drawing/2014/main" id="{23F4DFDE-AEB9-4419-A3EF-754ED74CB914}"/>
              </a:ext>
            </a:extLst>
          </p:cNvPr>
          <p:cNvSpPr>
            <a:spLocks noGrp="1"/>
          </p:cNvSpPr>
          <p:nvPr>
            <p:ph idx="1"/>
          </p:nvPr>
        </p:nvSpPr>
        <p:spPr/>
        <p:txBody>
          <a:bodyPr anchor="t"/>
          <a:lstStyle/>
          <a:p>
            <a:r>
              <a:rPr lang="en-US" dirty="0"/>
              <a:t>Stream Aggregate</a:t>
            </a:r>
          </a:p>
          <a:p>
            <a:r>
              <a:rPr lang="en-US" dirty="0"/>
              <a:t>Distinct Sort</a:t>
            </a:r>
          </a:p>
          <a:p>
            <a:r>
              <a:rPr lang="en-US" dirty="0"/>
              <a:t>Hash Aggregate</a:t>
            </a:r>
            <a:endParaRPr lang="pl-PL" dirty="0"/>
          </a:p>
        </p:txBody>
      </p:sp>
      <p:pic>
        <p:nvPicPr>
          <p:cNvPr id="5" name="Obraz 4">
            <a:extLst>
              <a:ext uri="{FF2B5EF4-FFF2-40B4-BE49-F238E27FC236}">
                <a16:creationId xmlns:a16="http://schemas.microsoft.com/office/drawing/2014/main" id="{BDCBE242-30FA-4961-8CC1-8ADE7BC94E84}"/>
              </a:ext>
            </a:extLst>
          </p:cNvPr>
          <p:cNvPicPr>
            <a:picLocks noChangeAspect="1"/>
          </p:cNvPicPr>
          <p:nvPr/>
        </p:nvPicPr>
        <p:blipFill>
          <a:blip r:embed="rId2"/>
          <a:stretch>
            <a:fillRect/>
          </a:stretch>
        </p:blipFill>
        <p:spPr>
          <a:xfrm>
            <a:off x="6489986" y="1461248"/>
            <a:ext cx="4509708" cy="4102637"/>
          </a:xfrm>
          <a:prstGeom prst="rect">
            <a:avLst/>
          </a:prstGeom>
        </p:spPr>
      </p:pic>
    </p:spTree>
    <p:extLst>
      <p:ext uri="{BB962C8B-B14F-4D97-AF65-F5344CB8AC3E}">
        <p14:creationId xmlns:p14="http://schemas.microsoft.com/office/powerpoint/2010/main" val="26053786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B06E5A1-8B64-44F0-9F61-990F78D1FF6F}"/>
              </a:ext>
            </a:extLst>
          </p:cNvPr>
          <p:cNvSpPr>
            <a:spLocks noGrp="1"/>
          </p:cNvSpPr>
          <p:nvPr>
            <p:ph type="title"/>
          </p:nvPr>
        </p:nvSpPr>
        <p:spPr/>
        <p:txBody>
          <a:bodyPr/>
          <a:lstStyle/>
          <a:p>
            <a:r>
              <a:rPr lang="pl-PL" dirty="0"/>
              <a:t>Operatory – Plany równoległe – operatory wymiany</a:t>
            </a:r>
          </a:p>
        </p:txBody>
      </p:sp>
      <p:sp>
        <p:nvSpPr>
          <p:cNvPr id="4" name="Symbol zastępczy zawartości 3">
            <a:extLst>
              <a:ext uri="{FF2B5EF4-FFF2-40B4-BE49-F238E27FC236}">
                <a16:creationId xmlns:a16="http://schemas.microsoft.com/office/drawing/2014/main" id="{23F4DFDE-AEB9-4419-A3EF-754ED74CB914}"/>
              </a:ext>
            </a:extLst>
          </p:cNvPr>
          <p:cNvSpPr>
            <a:spLocks noGrp="1"/>
          </p:cNvSpPr>
          <p:nvPr>
            <p:ph idx="1"/>
          </p:nvPr>
        </p:nvSpPr>
        <p:spPr/>
        <p:txBody>
          <a:bodyPr anchor="t"/>
          <a:lstStyle/>
          <a:p>
            <a:r>
              <a:rPr lang="pl-PL" b="1" dirty="0" err="1"/>
              <a:t>Distribute</a:t>
            </a:r>
            <a:r>
              <a:rPr lang="pl-PL" b="1" dirty="0"/>
              <a:t> </a:t>
            </a:r>
            <a:r>
              <a:rPr lang="pl-PL" b="1" dirty="0" err="1"/>
              <a:t>Streams</a:t>
            </a:r>
            <a:endParaRPr lang="pl-PL" b="1" dirty="0"/>
          </a:p>
          <a:p>
            <a:pPr lvl="1"/>
            <a:r>
              <a:rPr lang="pl-PL" dirty="0"/>
              <a:t>Dzieli pojedynczy strumień na wiele wątków</a:t>
            </a:r>
          </a:p>
          <a:p>
            <a:r>
              <a:rPr lang="pl-PL" b="1" dirty="0" err="1"/>
              <a:t>Gather</a:t>
            </a:r>
            <a:r>
              <a:rPr lang="pl-PL" b="1" dirty="0"/>
              <a:t> </a:t>
            </a:r>
            <a:r>
              <a:rPr lang="pl-PL" b="1" dirty="0" err="1"/>
              <a:t>Streams</a:t>
            </a:r>
            <a:endParaRPr lang="pl-PL" b="1" dirty="0"/>
          </a:p>
          <a:p>
            <a:pPr lvl="1"/>
            <a:r>
              <a:rPr lang="pl-PL" dirty="0"/>
              <a:t>Przyjmuje kilka wątków, łączy je i tworzy pojedynczy wątek</a:t>
            </a:r>
          </a:p>
          <a:p>
            <a:r>
              <a:rPr lang="pl-PL" b="1" dirty="0" err="1"/>
              <a:t>Repartition</a:t>
            </a:r>
            <a:r>
              <a:rPr lang="pl-PL" b="1" dirty="0"/>
              <a:t> </a:t>
            </a:r>
            <a:r>
              <a:rPr lang="pl-PL" b="1" dirty="0" err="1"/>
              <a:t>Streams</a:t>
            </a:r>
            <a:endParaRPr lang="pl-PL" b="1" dirty="0"/>
          </a:p>
          <a:p>
            <a:pPr lvl="1"/>
            <a:r>
              <a:rPr lang="pl-PL" dirty="0"/>
              <a:t>Pobiera wiele wątków i produkuje wiele wątków (równoległe łączenie tabel)</a:t>
            </a:r>
          </a:p>
        </p:txBody>
      </p:sp>
    </p:spTree>
    <p:extLst>
      <p:ext uri="{BB962C8B-B14F-4D97-AF65-F5344CB8AC3E}">
        <p14:creationId xmlns:p14="http://schemas.microsoft.com/office/powerpoint/2010/main" val="39668726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B06E5A1-8B64-44F0-9F61-990F78D1FF6F}"/>
              </a:ext>
            </a:extLst>
          </p:cNvPr>
          <p:cNvSpPr>
            <a:spLocks noGrp="1"/>
          </p:cNvSpPr>
          <p:nvPr>
            <p:ph type="title"/>
          </p:nvPr>
        </p:nvSpPr>
        <p:spPr/>
        <p:txBody>
          <a:bodyPr/>
          <a:lstStyle/>
          <a:p>
            <a:r>
              <a:rPr lang="pl-PL" dirty="0"/>
              <a:t>Dlaczego?</a:t>
            </a:r>
          </a:p>
        </p:txBody>
      </p:sp>
      <p:sp>
        <p:nvSpPr>
          <p:cNvPr id="4" name="Symbol zastępczy zawartości 3">
            <a:extLst>
              <a:ext uri="{FF2B5EF4-FFF2-40B4-BE49-F238E27FC236}">
                <a16:creationId xmlns:a16="http://schemas.microsoft.com/office/drawing/2014/main" id="{23F4DFDE-AEB9-4419-A3EF-754ED74CB914}"/>
              </a:ext>
            </a:extLst>
          </p:cNvPr>
          <p:cNvSpPr>
            <a:spLocks noGrp="1"/>
          </p:cNvSpPr>
          <p:nvPr>
            <p:ph idx="1"/>
          </p:nvPr>
        </p:nvSpPr>
        <p:spPr/>
        <p:txBody>
          <a:bodyPr anchor="t"/>
          <a:lstStyle/>
          <a:p>
            <a:r>
              <a:rPr lang="pl-PL" dirty="0"/>
              <a:t>Dlaczego zapytania NIE wykonują się równolegle?</a:t>
            </a:r>
          </a:p>
          <a:p>
            <a:pPr lvl="1"/>
            <a:r>
              <a:rPr lang="pl-PL" dirty="0"/>
              <a:t>Ustawienie </a:t>
            </a:r>
            <a:r>
              <a:rPr lang="pl-PL" b="1" dirty="0"/>
              <a:t>MAXDOP</a:t>
            </a:r>
            <a:r>
              <a:rPr lang="pl-PL" dirty="0"/>
              <a:t> (na poziomie zapytania, w konfiguracji bazy danych bądź instancji)</a:t>
            </a:r>
          </a:p>
          <a:p>
            <a:pPr lvl="1"/>
            <a:r>
              <a:rPr lang="pl-PL" dirty="0"/>
              <a:t>Koszt zapytania poniżej </a:t>
            </a:r>
            <a:r>
              <a:rPr lang="pl-PL" b="1" dirty="0" err="1"/>
              <a:t>cost</a:t>
            </a:r>
            <a:r>
              <a:rPr lang="pl-PL" b="1" dirty="0"/>
              <a:t> </a:t>
            </a:r>
            <a:r>
              <a:rPr lang="pl-PL" b="1" dirty="0" err="1"/>
              <a:t>threshold</a:t>
            </a:r>
            <a:r>
              <a:rPr lang="pl-PL" b="1" dirty="0"/>
              <a:t> for </a:t>
            </a:r>
            <a:r>
              <a:rPr lang="pl-PL" b="1" dirty="0" err="1"/>
              <a:t>parallelism</a:t>
            </a:r>
            <a:endParaRPr lang="pl-PL" b="1" dirty="0"/>
          </a:p>
          <a:p>
            <a:pPr lvl="1"/>
            <a:r>
              <a:rPr lang="pl-PL" dirty="0"/>
              <a:t>Użycie w zapytaniu kursorów dynamicznych, funkcji rankingu, funkcji skalarnych użytkownika, tabel </a:t>
            </a:r>
            <a:r>
              <a:rPr lang="pl-PL" dirty="0" err="1"/>
              <a:t>memory-optimized</a:t>
            </a:r>
            <a:endParaRPr lang="pl-PL" dirty="0"/>
          </a:p>
          <a:p>
            <a:pPr lvl="1"/>
            <a:r>
              <a:rPr lang="pl-PL" dirty="0"/>
              <a:t>Edycja Express</a:t>
            </a:r>
          </a:p>
        </p:txBody>
      </p:sp>
      <p:pic>
        <p:nvPicPr>
          <p:cNvPr id="5" name="Obraz 4">
            <a:extLst>
              <a:ext uri="{FF2B5EF4-FFF2-40B4-BE49-F238E27FC236}">
                <a16:creationId xmlns:a16="http://schemas.microsoft.com/office/drawing/2014/main" id="{A332310C-68F9-4A22-8A15-95A9EF22B20F}"/>
              </a:ext>
            </a:extLst>
          </p:cNvPr>
          <p:cNvPicPr>
            <a:picLocks noChangeAspect="1"/>
          </p:cNvPicPr>
          <p:nvPr/>
        </p:nvPicPr>
        <p:blipFill>
          <a:blip r:embed="rId2"/>
          <a:stretch>
            <a:fillRect/>
          </a:stretch>
        </p:blipFill>
        <p:spPr>
          <a:xfrm>
            <a:off x="5903782" y="3665907"/>
            <a:ext cx="4544059" cy="1390844"/>
          </a:xfrm>
          <a:prstGeom prst="rect">
            <a:avLst/>
          </a:prstGeom>
        </p:spPr>
      </p:pic>
    </p:spTree>
    <p:extLst>
      <p:ext uri="{BB962C8B-B14F-4D97-AF65-F5344CB8AC3E}">
        <p14:creationId xmlns:p14="http://schemas.microsoft.com/office/powerpoint/2010/main" val="13663142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B06E5A1-8B64-44F0-9F61-990F78D1FF6F}"/>
              </a:ext>
            </a:extLst>
          </p:cNvPr>
          <p:cNvSpPr>
            <a:spLocks noGrp="1"/>
          </p:cNvSpPr>
          <p:nvPr>
            <p:ph type="title"/>
          </p:nvPr>
        </p:nvSpPr>
        <p:spPr/>
        <p:txBody>
          <a:bodyPr/>
          <a:lstStyle/>
          <a:p>
            <a:r>
              <a:rPr lang="pl-PL" dirty="0"/>
              <a:t>Cache planów</a:t>
            </a:r>
            <a:br>
              <a:rPr lang="pl-PL" dirty="0"/>
            </a:br>
            <a:r>
              <a:rPr lang="pl-PL" sz="2800" dirty="0"/>
              <a:t>(Query cache plan)</a:t>
            </a:r>
            <a:endParaRPr lang="pl-PL" dirty="0"/>
          </a:p>
        </p:txBody>
      </p:sp>
      <p:sp>
        <p:nvSpPr>
          <p:cNvPr id="4" name="Symbol zastępczy zawartości 3">
            <a:extLst>
              <a:ext uri="{FF2B5EF4-FFF2-40B4-BE49-F238E27FC236}">
                <a16:creationId xmlns:a16="http://schemas.microsoft.com/office/drawing/2014/main" id="{23F4DFDE-AEB9-4419-A3EF-754ED74CB914}"/>
              </a:ext>
            </a:extLst>
          </p:cNvPr>
          <p:cNvSpPr>
            <a:spLocks noGrp="1"/>
          </p:cNvSpPr>
          <p:nvPr>
            <p:ph idx="1"/>
          </p:nvPr>
        </p:nvSpPr>
        <p:spPr/>
        <p:txBody>
          <a:bodyPr anchor="t">
            <a:normAutofit/>
          </a:bodyPr>
          <a:lstStyle/>
          <a:p>
            <a:r>
              <a:rPr lang="pl-PL" b="1" dirty="0" err="1"/>
              <a:t>sys.dm_exec_cached_plans</a:t>
            </a:r>
            <a:r>
              <a:rPr lang="pl-PL" b="1" dirty="0"/>
              <a:t> </a:t>
            </a:r>
            <a:r>
              <a:rPr lang="pl-PL" dirty="0"/>
              <a:t>– cache planów dla całej instancji</a:t>
            </a:r>
          </a:p>
          <a:p>
            <a:pPr lvl="1"/>
            <a:r>
              <a:rPr lang="pl-PL" dirty="0"/>
              <a:t>rozmiarem planów w bajtach</a:t>
            </a:r>
          </a:p>
          <a:p>
            <a:pPr lvl="1"/>
            <a:r>
              <a:rPr lang="pl-PL" dirty="0"/>
              <a:t>liczba użyć</a:t>
            </a:r>
          </a:p>
          <a:p>
            <a:pPr lvl="1"/>
            <a:r>
              <a:rPr lang="pl-PL" dirty="0"/>
              <a:t>identyfikator pozwalający odczytać treść instrukcji/ plan zapytania</a:t>
            </a:r>
          </a:p>
          <a:p>
            <a:r>
              <a:rPr lang="pl-PL" b="1" dirty="0" err="1"/>
              <a:t>sys.dm_exec_query_stats</a:t>
            </a:r>
            <a:r>
              <a:rPr lang="pl-PL" b="1" dirty="0"/>
              <a:t> </a:t>
            </a:r>
            <a:r>
              <a:rPr lang="pl-PL" dirty="0"/>
              <a:t>– statystyki planów</a:t>
            </a:r>
          </a:p>
          <a:p>
            <a:pPr lvl="1"/>
            <a:r>
              <a:rPr lang="pl-PL" dirty="0" err="1"/>
              <a:t>creation_time</a:t>
            </a:r>
            <a:endParaRPr lang="pl-PL" dirty="0"/>
          </a:p>
          <a:p>
            <a:pPr lvl="1"/>
            <a:r>
              <a:rPr lang="pl-PL" dirty="0" err="1"/>
              <a:t>last_execution_time</a:t>
            </a:r>
            <a:endParaRPr lang="pl-PL" dirty="0"/>
          </a:p>
          <a:p>
            <a:pPr lvl="1"/>
            <a:r>
              <a:rPr lang="pl-PL" dirty="0" err="1"/>
              <a:t>total</a:t>
            </a:r>
            <a:r>
              <a:rPr lang="pl-PL" dirty="0"/>
              <a:t>/</a:t>
            </a:r>
            <a:r>
              <a:rPr lang="pl-PL" dirty="0" err="1"/>
              <a:t>last</a:t>
            </a:r>
            <a:r>
              <a:rPr lang="pl-PL" dirty="0"/>
              <a:t>/min/</a:t>
            </a:r>
            <a:r>
              <a:rPr lang="pl-PL" dirty="0" err="1"/>
              <a:t>max_logical_reads</a:t>
            </a:r>
            <a:endParaRPr lang="pl-PL" dirty="0"/>
          </a:p>
          <a:p>
            <a:pPr lvl="1"/>
            <a:r>
              <a:rPr lang="pl-PL" dirty="0" err="1"/>
              <a:t>total</a:t>
            </a:r>
            <a:r>
              <a:rPr lang="pl-PL" dirty="0"/>
              <a:t>/</a:t>
            </a:r>
            <a:r>
              <a:rPr lang="pl-PL" dirty="0" err="1"/>
              <a:t>last</a:t>
            </a:r>
            <a:r>
              <a:rPr lang="pl-PL" dirty="0"/>
              <a:t>/min/</a:t>
            </a:r>
            <a:r>
              <a:rPr lang="pl-PL" dirty="0" err="1"/>
              <a:t>max_rows</a:t>
            </a:r>
            <a:endParaRPr lang="pl-PL" dirty="0"/>
          </a:p>
          <a:p>
            <a:r>
              <a:rPr lang="pl-PL" b="1" dirty="0"/>
              <a:t>Czyszczenie planu zapytań</a:t>
            </a:r>
          </a:p>
          <a:p>
            <a:pPr lvl="1"/>
            <a:r>
              <a:rPr lang="pl-PL" dirty="0"/>
              <a:t>Skasowanie wybranego planu - DBCC FREEPROCCACHE (</a:t>
            </a:r>
            <a:r>
              <a:rPr lang="pl-PL" dirty="0" err="1"/>
              <a:t>plan_handle</a:t>
            </a:r>
            <a:r>
              <a:rPr lang="pl-PL" dirty="0"/>
              <a:t>)</a:t>
            </a:r>
          </a:p>
          <a:p>
            <a:pPr lvl="1"/>
            <a:r>
              <a:rPr lang="pl-PL" dirty="0"/>
              <a:t>Skasowanie wszystkich planów - DBCC FREEPROCCACHE</a:t>
            </a:r>
          </a:p>
          <a:p>
            <a:pPr lvl="1"/>
            <a:r>
              <a:rPr lang="pl-PL" dirty="0"/>
              <a:t>Skasowanie planów dla bieżącej bazy ALTER DATABASE SCOPED CONFIGURATION, CLEAR PROCEDURE_CACHE</a:t>
            </a:r>
          </a:p>
        </p:txBody>
      </p:sp>
    </p:spTree>
    <p:extLst>
      <p:ext uri="{BB962C8B-B14F-4D97-AF65-F5344CB8AC3E}">
        <p14:creationId xmlns:p14="http://schemas.microsoft.com/office/powerpoint/2010/main" val="33516101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B06E5A1-8B64-44F0-9F61-990F78D1FF6F}"/>
              </a:ext>
            </a:extLst>
          </p:cNvPr>
          <p:cNvSpPr>
            <a:spLocks noGrp="1"/>
          </p:cNvSpPr>
          <p:nvPr>
            <p:ph type="title"/>
          </p:nvPr>
        </p:nvSpPr>
        <p:spPr/>
        <p:txBody>
          <a:bodyPr/>
          <a:lstStyle/>
          <a:p>
            <a:r>
              <a:rPr lang="pl-PL" dirty="0" err="1"/>
              <a:t>Parameter</a:t>
            </a:r>
            <a:r>
              <a:rPr lang="pl-PL" dirty="0"/>
              <a:t> </a:t>
            </a:r>
            <a:r>
              <a:rPr lang="pl-PL" dirty="0" err="1"/>
              <a:t>Sniffing</a:t>
            </a:r>
            <a:endParaRPr lang="pl-PL" dirty="0"/>
          </a:p>
        </p:txBody>
      </p:sp>
      <p:sp>
        <p:nvSpPr>
          <p:cNvPr id="4" name="Symbol zastępczy zawartości 3">
            <a:extLst>
              <a:ext uri="{FF2B5EF4-FFF2-40B4-BE49-F238E27FC236}">
                <a16:creationId xmlns:a16="http://schemas.microsoft.com/office/drawing/2014/main" id="{23F4DFDE-AEB9-4419-A3EF-754ED74CB914}"/>
              </a:ext>
            </a:extLst>
          </p:cNvPr>
          <p:cNvSpPr>
            <a:spLocks noGrp="1"/>
          </p:cNvSpPr>
          <p:nvPr>
            <p:ph idx="1"/>
          </p:nvPr>
        </p:nvSpPr>
        <p:spPr/>
        <p:txBody>
          <a:bodyPr anchor="t">
            <a:normAutofit/>
          </a:bodyPr>
          <a:lstStyle/>
          <a:p>
            <a:r>
              <a:rPr lang="pl-PL" dirty="0"/>
              <a:t>W przeciwieństwie do zapytań ad-hoc, procedury składowane korzystają tylko z jednego planu wykonania, bez względu na inną kombinację parametrów.</a:t>
            </a:r>
          </a:p>
          <a:p>
            <a:r>
              <a:rPr lang="pl-PL" dirty="0"/>
              <a:t>SQL Server tworzy i zapisuje plan wykonania na podstawie PIERWSZEGO zestawu parametrów. </a:t>
            </a:r>
          </a:p>
          <a:p>
            <a:r>
              <a:rPr lang="pl-PL" dirty="0" err="1"/>
              <a:t>Parameter</a:t>
            </a:r>
            <a:r>
              <a:rPr lang="pl-PL" dirty="0"/>
              <a:t> </a:t>
            </a:r>
            <a:r>
              <a:rPr lang="pl-PL" dirty="0" err="1"/>
              <a:t>Sniffing</a:t>
            </a:r>
            <a:r>
              <a:rPr lang="pl-PL" dirty="0"/>
              <a:t> – rozwiązania</a:t>
            </a:r>
          </a:p>
          <a:p>
            <a:pPr lvl="1"/>
            <a:r>
              <a:rPr lang="pl-PL" dirty="0" err="1"/>
              <a:t>sp_recompile</a:t>
            </a:r>
            <a:r>
              <a:rPr lang="pl-PL" dirty="0"/>
              <a:t> 'NAZWA_PROCEDURY’</a:t>
            </a:r>
          </a:p>
          <a:p>
            <a:pPr lvl="1"/>
            <a:r>
              <a:rPr lang="pl-PL" dirty="0"/>
              <a:t>CREATE PROC …. WITH RECOMPILE</a:t>
            </a:r>
          </a:p>
          <a:p>
            <a:pPr lvl="1"/>
            <a:r>
              <a:rPr lang="pl-PL" dirty="0"/>
              <a:t>OPTION (RECOMPILE)</a:t>
            </a:r>
          </a:p>
          <a:p>
            <a:pPr lvl="1"/>
            <a:r>
              <a:rPr lang="pl-PL" dirty="0"/>
              <a:t>OPTION (OPTIMIZE FOR UNKNOWN)</a:t>
            </a:r>
          </a:p>
          <a:p>
            <a:pPr lvl="1"/>
            <a:r>
              <a:rPr lang="pl-PL" dirty="0"/>
              <a:t>OPTIMIZE </a:t>
            </a:r>
            <a:r>
              <a:rPr lang="pl-PL"/>
              <a:t>FOR X</a:t>
            </a:r>
          </a:p>
          <a:p>
            <a:pPr lvl="1"/>
            <a:r>
              <a:rPr lang="pl-PL"/>
              <a:t>Zagnieżdżona </a:t>
            </a:r>
            <a:r>
              <a:rPr lang="pl-PL" dirty="0"/>
              <a:t>procedura</a:t>
            </a:r>
          </a:p>
        </p:txBody>
      </p:sp>
    </p:spTree>
    <p:extLst>
      <p:ext uri="{BB962C8B-B14F-4D97-AF65-F5344CB8AC3E}">
        <p14:creationId xmlns:p14="http://schemas.microsoft.com/office/powerpoint/2010/main" val="2682586878"/>
      </p:ext>
    </p:extLst>
  </p:cSld>
  <p:clrMapOvr>
    <a:masterClrMapping/>
  </p:clrMapOvr>
</p:sld>
</file>

<file path=ppt/theme/theme1.xml><?xml version="1.0" encoding="utf-8"?>
<a:theme xmlns:a="http://schemas.openxmlformats.org/drawingml/2006/main" name="Ramka">
  <a:themeElements>
    <a:clrScheme name="Frame">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18A1B607-7BAE-46D6-8090-545AC7BDD739}"/>
    </a:ext>
  </a:extLst>
</a:theme>
</file>

<file path=docProps/app.xml><?xml version="1.0" encoding="utf-8"?>
<Properties xmlns="http://schemas.openxmlformats.org/officeDocument/2006/extended-properties" xmlns:vt="http://schemas.openxmlformats.org/officeDocument/2006/docPropsVTypes">
  <Template>TM03457475[[fn=Ramka]]</Template>
  <TotalTime>1795</TotalTime>
  <Words>2327</Words>
  <Application>Microsoft Office PowerPoint</Application>
  <PresentationFormat>Panoramiczny</PresentationFormat>
  <Paragraphs>236</Paragraphs>
  <Slides>31</Slides>
  <Notes>0</Notes>
  <HiddenSlides>0</HiddenSlides>
  <MMClips>0</MMClips>
  <ScaleCrop>false</ScaleCrop>
  <HeadingPairs>
    <vt:vector size="6" baseType="variant">
      <vt:variant>
        <vt:lpstr>Używane czcionki</vt:lpstr>
      </vt:variant>
      <vt:variant>
        <vt:i4>2</vt:i4>
      </vt:variant>
      <vt:variant>
        <vt:lpstr>Motyw</vt:lpstr>
      </vt:variant>
      <vt:variant>
        <vt:i4>1</vt:i4>
      </vt:variant>
      <vt:variant>
        <vt:lpstr>Tytuły slajdów</vt:lpstr>
      </vt:variant>
      <vt:variant>
        <vt:i4>31</vt:i4>
      </vt:variant>
    </vt:vector>
  </HeadingPairs>
  <TitlesOfParts>
    <vt:vector size="34" baseType="lpstr">
      <vt:lpstr>Corbel</vt:lpstr>
      <vt:lpstr>Wingdings 2</vt:lpstr>
      <vt:lpstr>Ramka</vt:lpstr>
      <vt:lpstr>Plany zapytań</vt:lpstr>
      <vt:lpstr>Tryby przetwarzania</vt:lpstr>
      <vt:lpstr>Tryby przetwarzania</vt:lpstr>
      <vt:lpstr>Przetwarzanie zapytań</vt:lpstr>
      <vt:lpstr>Przetwarzanie zapytań</vt:lpstr>
      <vt:lpstr>Przetwarzanie zapytań - Search</vt:lpstr>
      <vt:lpstr>Przetwarzanie zapytania SQL</vt:lpstr>
      <vt:lpstr>Przetwarzanie zapytania SQL</vt:lpstr>
      <vt:lpstr>Optymalizacja (1/5)</vt:lpstr>
      <vt:lpstr>Optymalizacja (2/5)</vt:lpstr>
      <vt:lpstr>Optymalizacja (3/5)</vt:lpstr>
      <vt:lpstr>Optymalizacja (4/5)</vt:lpstr>
      <vt:lpstr>Optymalizacja (5/5)</vt:lpstr>
      <vt:lpstr>Rodzaje operatorów</vt:lpstr>
      <vt:lpstr>Właściwości operatorów</vt:lpstr>
      <vt:lpstr>Właściwości planów</vt:lpstr>
      <vt:lpstr>Optimization Level</vt:lpstr>
      <vt:lpstr>Koszt operatora</vt:lpstr>
      <vt:lpstr>Koszt operatora</vt:lpstr>
      <vt:lpstr>Jak czytać plan?</vt:lpstr>
      <vt:lpstr>Właściwości planu</vt:lpstr>
      <vt:lpstr>Operatory – dostępy do danych</vt:lpstr>
      <vt:lpstr>Kluczowe elementy w planie zapytania</vt:lpstr>
      <vt:lpstr>Operatory – Łączenie danych</vt:lpstr>
      <vt:lpstr>Operatory – Grupowanie</vt:lpstr>
      <vt:lpstr>Operatory – Compute Scalar</vt:lpstr>
      <vt:lpstr>Operatory – usuwanie duplikatów</vt:lpstr>
      <vt:lpstr>Operatory – Plany równoległe – operatory wymiany</vt:lpstr>
      <vt:lpstr>Dlaczego?</vt:lpstr>
      <vt:lpstr>Cache planów (Query cache plan)</vt:lpstr>
      <vt:lpstr>Parameter Sniffing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Plany zapytań - SQL Server</dc:title>
  <dc:creator>Przemyslaw Starosta</dc:creator>
  <cp:lastModifiedBy>Przemyslaw Starosta</cp:lastModifiedBy>
  <cp:revision>1</cp:revision>
  <dcterms:created xsi:type="dcterms:W3CDTF">2022-01-27T16:58:23Z</dcterms:created>
  <dcterms:modified xsi:type="dcterms:W3CDTF">2026-01-14T13:01:50Z</dcterms:modified>
</cp:coreProperties>
</file>