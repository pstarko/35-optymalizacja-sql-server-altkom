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81" r:id="rId10"/>
    <p:sldId id="265" r:id="rId11"/>
    <p:sldId id="264" r:id="rId12"/>
    <p:sldId id="266" r:id="rId13"/>
    <p:sldId id="279" r:id="rId14"/>
    <p:sldId id="280" r:id="rId15"/>
    <p:sldId id="267" r:id="rId16"/>
    <p:sldId id="268" r:id="rId17"/>
    <p:sldId id="269" r:id="rId18"/>
    <p:sldId id="270" r:id="rId19"/>
    <p:sldId id="271" r:id="rId20"/>
    <p:sldId id="272" r:id="rId21"/>
    <p:sldId id="277" r:id="rId22"/>
    <p:sldId id="278" r:id="rId23"/>
    <p:sldId id="273" r:id="rId24"/>
    <p:sldId id="274" r:id="rId25"/>
    <p:sldId id="275" r:id="rId26"/>
    <p:sldId id="276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7C0352-DDAB-425D-86BC-30EF165CB5AE}" v="2" dt="2026-10-22T07:45:59.2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672" y="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zemyslaw Starosta" userId="45f988447864b3e6" providerId="LiveId" clId="{F03EAEFD-908B-4458-9CFE-E641CAF539F5}"/>
    <pc:docChg chg="undo custSel modSld">
      <pc:chgData name="Przemyslaw Starosta" userId="45f988447864b3e6" providerId="LiveId" clId="{F03EAEFD-908B-4458-9CFE-E641CAF539F5}" dt="2026-10-22T07:59:22.293" v="28" actId="14100"/>
      <pc:docMkLst>
        <pc:docMk/>
      </pc:docMkLst>
      <pc:sldChg chg="modSp">
        <pc:chgData name="Przemyslaw Starosta" userId="45f988447864b3e6" providerId="LiveId" clId="{F03EAEFD-908B-4458-9CFE-E641CAF539F5}" dt="2026-10-22T07:45:59.221" v="24" actId="14100"/>
        <pc:sldMkLst>
          <pc:docMk/>
          <pc:sldMk cId="873540532" sldId="257"/>
        </pc:sldMkLst>
        <pc:picChg chg="mod">
          <ac:chgData name="Przemyslaw Starosta" userId="45f988447864b3e6" providerId="LiveId" clId="{F03EAEFD-908B-4458-9CFE-E641CAF539F5}" dt="2026-10-22T07:45:59.221" v="24" actId="14100"/>
          <ac:picMkLst>
            <pc:docMk/>
            <pc:sldMk cId="873540532" sldId="257"/>
            <ac:picMk id="1026" creationId="{436FC09B-CF32-49F5-AD00-9F43A2B46F40}"/>
          </ac:picMkLst>
        </pc:picChg>
      </pc:sldChg>
      <pc:sldChg chg="modSp mod">
        <pc:chgData name="Przemyslaw Starosta" userId="45f988447864b3e6" providerId="LiveId" clId="{F03EAEFD-908B-4458-9CFE-E641CAF539F5}" dt="2026-10-22T07:56:41.279" v="27" actId="14100"/>
        <pc:sldMkLst>
          <pc:docMk/>
          <pc:sldMk cId="2575848590" sldId="261"/>
        </pc:sldMkLst>
        <pc:picChg chg="mod">
          <ac:chgData name="Przemyslaw Starosta" userId="45f988447864b3e6" providerId="LiveId" clId="{F03EAEFD-908B-4458-9CFE-E641CAF539F5}" dt="2026-10-22T07:56:41.279" v="27" actId="14100"/>
          <ac:picMkLst>
            <pc:docMk/>
            <pc:sldMk cId="2575848590" sldId="261"/>
            <ac:picMk id="5" creationId="{35258E7A-9DCF-406F-8A6D-207C1B55CDC4}"/>
          </ac:picMkLst>
        </pc:picChg>
      </pc:sldChg>
      <pc:sldChg chg="modSp mod">
        <pc:chgData name="Przemyslaw Starosta" userId="45f988447864b3e6" providerId="LiveId" clId="{F03EAEFD-908B-4458-9CFE-E641CAF539F5}" dt="2026-10-22T07:59:22.293" v="28" actId="14100"/>
        <pc:sldMkLst>
          <pc:docMk/>
          <pc:sldMk cId="1570796301" sldId="262"/>
        </pc:sldMkLst>
        <pc:picChg chg="mod">
          <ac:chgData name="Przemyslaw Starosta" userId="45f988447864b3e6" providerId="LiveId" clId="{F03EAEFD-908B-4458-9CFE-E641CAF539F5}" dt="2026-10-22T07:59:22.293" v="28" actId="14100"/>
          <ac:picMkLst>
            <pc:docMk/>
            <pc:sldMk cId="1570796301" sldId="262"/>
            <ac:picMk id="6" creationId="{23CEBDAA-7658-40B0-92DC-CD6FAB009793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Zeszyt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l-P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l-PL" dirty="0"/>
              <a:t>DML -&gt; indeksy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Arkusz1!$E$13</c:f>
              <c:strCache>
                <c:ptCount val="1"/>
                <c:pt idx="0">
                  <c:v>Czas wykonania(sek)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l-P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Arkusz1!$F$12:$J$12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</c:numCache>
            </c:numRef>
          </c:cat>
          <c:val>
            <c:numRef>
              <c:f>Arkusz1!$F$13:$J$13</c:f>
              <c:numCache>
                <c:formatCode>General</c:formatCode>
                <c:ptCount val="5"/>
                <c:pt idx="0">
                  <c:v>2.9999999999999997E-4</c:v>
                </c:pt>
                <c:pt idx="1">
                  <c:v>2.1999999999999999E-2</c:v>
                </c:pt>
                <c:pt idx="2">
                  <c:v>0.04</c:v>
                </c:pt>
                <c:pt idx="3">
                  <c:v>6.2E-2</c:v>
                </c:pt>
                <c:pt idx="4">
                  <c:v>8.2000000000000003E-2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C8-4DF0-AB84-F641B295D95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394718623"/>
        <c:axId val="394716127"/>
      </c:barChart>
      <c:catAx>
        <c:axId val="3947186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l-PL"/>
                  <a:t>Ilość ideksów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394716127"/>
        <c:crosses val="autoZero"/>
        <c:auto val="1"/>
        <c:lblAlgn val="ctr"/>
        <c:lblOffset val="100"/>
        <c:noMultiLvlLbl val="0"/>
      </c:catAx>
      <c:valAx>
        <c:axId val="394716127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pl-PL"/>
                  <a:t>Czas wykonania w sekundach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1" i="0" u="none" strike="noStrike" kern="1200" baseline="0">
                  <a:solidFill>
                    <a:schemeClr val="dk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pl-PL"/>
            </a:p>
          </c:txPr>
        </c:title>
        <c:numFmt formatCode="General" sourceLinked="1"/>
        <c:majorTickMark val="none"/>
        <c:minorTickMark val="none"/>
        <c:tickLblPos val="nextTo"/>
        <c:crossAx val="39471862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l-PL"/>
              <a:t>Kliknij, aby edytować styl wzorca podtytułu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Kliknij ikonę, aby dodać obraz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l-P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learn.microsoft.com/en-us/sql/relational-databases/databases/shrink-a-file?view=sql-server-ver16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42C04C6-72B9-4B2D-832F-6C1420567D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/>
              <a:t>Wstęp do indeksów	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87C6B3B6-AFB0-45AE-8BA8-96E9298EE4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/>
              <a:t>SQL Server</a:t>
            </a:r>
          </a:p>
        </p:txBody>
      </p:sp>
    </p:spTree>
    <p:extLst>
      <p:ext uri="{BB962C8B-B14F-4D97-AF65-F5344CB8AC3E}">
        <p14:creationId xmlns:p14="http://schemas.microsoft.com/office/powerpoint/2010/main" val="2629494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Strona danych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/>
          <a:lstStyle/>
          <a:p>
            <a:r>
              <a:rPr lang="pl-PL" dirty="0"/>
              <a:t>Jedna baza danych to minimum 2 pliki</a:t>
            </a:r>
          </a:p>
          <a:p>
            <a:pPr lvl="1"/>
            <a:r>
              <a:rPr lang="pl-PL" dirty="0" err="1"/>
              <a:t>Mdf</a:t>
            </a:r>
            <a:r>
              <a:rPr lang="pl-PL" dirty="0"/>
              <a:t> – plik z danymi</a:t>
            </a:r>
          </a:p>
          <a:p>
            <a:pPr lvl="1"/>
            <a:r>
              <a:rPr lang="pl-PL" dirty="0" err="1"/>
              <a:t>Ldf</a:t>
            </a:r>
            <a:r>
              <a:rPr lang="pl-PL" dirty="0"/>
              <a:t> – log transakcyjny</a:t>
            </a:r>
          </a:p>
          <a:p>
            <a:pPr lvl="1"/>
            <a:endParaRPr lang="pl-PL" dirty="0"/>
          </a:p>
          <a:p>
            <a:r>
              <a:rPr lang="pl-PL" dirty="0"/>
              <a:t>Plik z danymi podzielony jest na strony danych</a:t>
            </a:r>
          </a:p>
          <a:p>
            <a:r>
              <a:rPr lang="pl-PL" dirty="0"/>
              <a:t>Jedna strona = 8 KB</a:t>
            </a:r>
          </a:p>
        </p:txBody>
      </p:sp>
      <p:pic>
        <p:nvPicPr>
          <p:cNvPr id="1026" name="Picture 2" descr="Pages and Extents Architecture Guide - SQL Server | Microsoft Docs">
            <a:extLst>
              <a:ext uri="{FF2B5EF4-FFF2-40B4-BE49-F238E27FC236}">
                <a16:creationId xmlns:a16="http://schemas.microsoft.com/office/drawing/2014/main" id="{436FC09B-CF32-49F5-AD00-9F43A2B46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104" y="3874282"/>
            <a:ext cx="2710399" cy="2214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3540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Statystyki IO/TIME</a:t>
            </a: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25C68DF4-0BBA-45C9-A403-527309BFC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2046" y="3083769"/>
            <a:ext cx="3496235" cy="2871907"/>
          </a:xfrm>
          <a:prstGeom prst="rect">
            <a:avLst/>
          </a:prstGeom>
        </p:spPr>
      </p:pic>
      <p:pic>
        <p:nvPicPr>
          <p:cNvPr id="11" name="Obraz 10">
            <a:extLst>
              <a:ext uri="{FF2B5EF4-FFF2-40B4-BE49-F238E27FC236}">
                <a16:creationId xmlns:a16="http://schemas.microsoft.com/office/drawing/2014/main" id="{11535C20-6CCD-431C-BAC8-A5811324A3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6864" y="793056"/>
            <a:ext cx="3903136" cy="2710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222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Plan zapytania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 anchor="t"/>
          <a:lstStyle/>
          <a:p>
            <a:r>
              <a:rPr lang="pl-PL"/>
              <a:t>Informacja o ścieżce optymalnego wykonania zapytania biorąc pod uwagę strukturę danych i indeksów, liczbę danych itd.</a:t>
            </a:r>
          </a:p>
          <a:p>
            <a:r>
              <a:rPr lang="pl-PL"/>
              <a:t>Plan zapytania czytamy od prawej strony do lewej</a:t>
            </a:r>
          </a:p>
          <a:p>
            <a:endParaRPr lang="pl-PL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26ECC417-1648-437E-B3A3-931E47401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829" y="2548831"/>
            <a:ext cx="4258269" cy="324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0076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Tabela bez indeksów – sterta(</a:t>
            </a:r>
            <a:r>
              <a:rPr lang="pl-PL" err="1"/>
              <a:t>heap</a:t>
            </a:r>
            <a:r>
              <a:rPr lang="pl-PL"/>
              <a:t>)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 anchor="t"/>
          <a:lstStyle/>
          <a:p>
            <a:r>
              <a:rPr lang="pl-PL" dirty="0"/>
              <a:t>Dane zapisywane są na kolejnych stronach zgodnie z kolejnością wstawiania ich do tabeli</a:t>
            </a:r>
          </a:p>
          <a:p>
            <a:r>
              <a:rPr lang="pl-PL" dirty="0"/>
              <a:t>IAM – Index </a:t>
            </a:r>
            <a:r>
              <a:rPr lang="pl-PL" dirty="0" err="1"/>
              <a:t>Allocation</a:t>
            </a:r>
            <a:r>
              <a:rPr lang="pl-PL" dirty="0"/>
              <a:t> Map – zawiera informacje, które strony zawierają wiersze należące do tabeli</a:t>
            </a:r>
          </a:p>
          <a:p>
            <a:endParaRPr lang="pl-PL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2CFED8C6-3463-4AB2-88F9-DE9FAA00D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524173"/>
            <a:ext cx="4280523" cy="3551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693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Indeks klastrowy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 anchor="t">
            <a:normAutofit/>
          </a:bodyPr>
          <a:lstStyle/>
          <a:p>
            <a:r>
              <a:rPr lang="pl-PL" sz="1600" dirty="0"/>
              <a:t>Dane są przechowywane na podstawie klucza indeksu klastrowego(maksymalnie jeden w tabeli)</a:t>
            </a:r>
          </a:p>
          <a:p>
            <a:r>
              <a:rPr lang="pl-PL" sz="1600" dirty="0"/>
              <a:t>Dane można szybko pobrać na podstawie klucza indeksu klastrowego, jeśli zapytanie używa indeksowanych kolumn</a:t>
            </a:r>
          </a:p>
          <a:p>
            <a:r>
              <a:rPr lang="pl-PL" sz="1600" dirty="0"/>
              <a:t>Strony danych są połączone w celu szybszego dostępu sekwencyjnego</a:t>
            </a:r>
          </a:p>
          <a:p>
            <a:r>
              <a:rPr lang="pl-PL" sz="1600" dirty="0"/>
              <a:t>Potrzebny jest dodatkowy czas na utrzymanie indeksu klastrowego w oparciu o aktywność INSERT, UPDATE i DELETE</a:t>
            </a:r>
          </a:p>
          <a:p>
            <a:r>
              <a:rPr lang="pl-PL" sz="1600" dirty="0"/>
              <a:t>Do przechowywania klastrowego drzewa indeksu potrzebne jest dodatkowe miejsce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35258E7A-9DCF-406F-8A6D-207C1B55CD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176" y="3692268"/>
            <a:ext cx="2402770" cy="2764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848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Indeks klastrowy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 anchor="t">
            <a:normAutofit/>
          </a:bodyPr>
          <a:lstStyle/>
          <a:p>
            <a:r>
              <a:rPr lang="pl-PL" sz="1600" dirty="0"/>
              <a:t>Maksymalnie 16 kolumn, 900 bajtów</a:t>
            </a:r>
          </a:p>
          <a:p>
            <a:r>
              <a:rPr lang="pl-PL" sz="1600" dirty="0"/>
              <a:t>Wąski (liczba kolumn, typy danych)</a:t>
            </a:r>
          </a:p>
          <a:p>
            <a:r>
              <a:rPr lang="pl-PL" sz="1600" dirty="0"/>
              <a:t>Przyrostowy (</a:t>
            </a:r>
            <a:r>
              <a:rPr lang="pl-PL" sz="1600" dirty="0" err="1"/>
              <a:t>identity</a:t>
            </a:r>
            <a:r>
              <a:rPr lang="pl-PL" sz="1600" dirty="0"/>
              <a:t>/ </a:t>
            </a:r>
            <a:r>
              <a:rPr lang="pl-PL" sz="1600" dirty="0" err="1"/>
              <a:t>sequence</a:t>
            </a:r>
            <a:r>
              <a:rPr lang="pl-PL" sz="1600" dirty="0"/>
              <a:t>) – kolejne wartości - rosnące</a:t>
            </a:r>
          </a:p>
          <a:p>
            <a:r>
              <a:rPr lang="pl-PL" sz="1600" dirty="0"/>
              <a:t>Statyczny (niezmienny)</a:t>
            </a:r>
          </a:p>
          <a:p>
            <a:r>
              <a:rPr lang="pl-PL" sz="1600" dirty="0"/>
              <a:t>Unikalny (jeśli </a:t>
            </a:r>
            <a:r>
              <a:rPr lang="pl-PL" sz="1600" dirty="0" err="1"/>
              <a:t>Key</a:t>
            </a:r>
            <a:r>
              <a:rPr lang="pl-PL" sz="1600" dirty="0"/>
              <a:t> nie jest unikalny – SQL Server dodaje 4B do każdego klucza żeby zagwarantować wewnętrznie unikalność)</a:t>
            </a:r>
          </a:p>
        </p:txBody>
      </p:sp>
    </p:spTree>
    <p:extLst>
      <p:ext uri="{BB962C8B-B14F-4D97-AF65-F5344CB8AC3E}">
        <p14:creationId xmlns:p14="http://schemas.microsoft.com/office/powerpoint/2010/main" val="25773858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Indeks nieklastrowy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49359"/>
            <a:ext cx="7315200" cy="5120640"/>
          </a:xfrm>
        </p:spPr>
        <p:txBody>
          <a:bodyPr anchor="t">
            <a:normAutofit/>
          </a:bodyPr>
          <a:lstStyle/>
          <a:p>
            <a:r>
              <a:rPr lang="pl-PL" sz="1600" dirty="0" err="1"/>
              <a:t>Nonclustred</a:t>
            </a:r>
            <a:r>
              <a:rPr lang="pl-PL" sz="1600" dirty="0"/>
              <a:t> index</a:t>
            </a:r>
          </a:p>
          <a:p>
            <a:r>
              <a:rPr lang="pl-PL" sz="1600" dirty="0"/>
              <a:t>999 w jednej tabeli</a:t>
            </a:r>
          </a:p>
          <a:p>
            <a:r>
              <a:rPr lang="pl-PL" sz="1600" dirty="0"/>
              <a:t>Na poziomie liści znajdują się klucze indeksu klastrowego/ numery stron na stercie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23CEBDAA-7658-40B0-92DC-CD6FAB009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3412" y="2305501"/>
            <a:ext cx="4647369" cy="4250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7963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38456-0C70-E172-5FCA-DB2BAB02C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8AC7CBF-5105-5C6C-7583-28AC6F4CE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Różnica</a:t>
            </a:r>
            <a:endParaRPr lang="pl-PL" dirty="0"/>
          </a:p>
        </p:txBody>
      </p:sp>
      <p:graphicFrame>
        <p:nvGraphicFramePr>
          <p:cNvPr id="7" name="Symbol zastępczy zawartości 6">
            <a:extLst>
              <a:ext uri="{FF2B5EF4-FFF2-40B4-BE49-F238E27FC236}">
                <a16:creationId xmlns:a16="http://schemas.microsoft.com/office/drawing/2014/main" id="{6BBA984F-5134-07C9-8D04-31C487C86C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7349740"/>
              </p:ext>
            </p:extLst>
          </p:nvPr>
        </p:nvGraphicFramePr>
        <p:xfrm>
          <a:off x="3966710" y="156028"/>
          <a:ext cx="7315200" cy="63971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3702109004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4285534647"/>
                    </a:ext>
                  </a:extLst>
                </a:gridCol>
              </a:tblGrid>
              <a:tr h="405025">
                <a:tc>
                  <a:txBody>
                    <a:bodyPr/>
                    <a:lstStyle/>
                    <a:p>
                      <a:r>
                        <a:rPr lang="pl-PL" dirty="0"/>
                        <a:t>Klastrowy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Nieklastrowy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442560"/>
                  </a:ext>
                </a:extLst>
              </a:tr>
              <a:tr h="5992147">
                <a:tc>
                  <a:txBody>
                    <a:bodyPr/>
                    <a:lstStyle/>
                    <a:p>
                      <a:r>
                        <a:rPr lang="pl-PL" sz="1600" b="1" dirty="0"/>
                        <a:t>To jest jak książka telefoniczna uporządkowana alfabetycznie po nazwisku.</a:t>
                      </a:r>
                    </a:p>
                    <a:p>
                      <a:endParaRPr lang="pl-PL" sz="1600" dirty="0"/>
                    </a:p>
                    <a:p>
                      <a:r>
                        <a:rPr lang="pl-PL" sz="1600" dirty="0"/>
                        <a:t>Wszystkie dane (np. imię, nazwisko, adres, numer telefonu) są fizycznie </a:t>
                      </a:r>
                      <a:r>
                        <a:rPr lang="pl-PL" sz="1600" b="1" dirty="0"/>
                        <a:t>uporządkowane według nazwiska</a:t>
                      </a:r>
                      <a:r>
                        <a:rPr lang="pl-PL" sz="1600" dirty="0"/>
                        <a:t>.</a:t>
                      </a:r>
                    </a:p>
                    <a:p>
                      <a:r>
                        <a:rPr lang="pl-PL" sz="1600" dirty="0"/>
                        <a:t>Nie ma oddzielnej struktury indeksu – dane </a:t>
                      </a:r>
                      <a:r>
                        <a:rPr lang="pl-PL" sz="1600" b="1" dirty="0"/>
                        <a:t>są</a:t>
                      </a:r>
                      <a:r>
                        <a:rPr lang="pl-PL" sz="1600" dirty="0"/>
                        <a:t> indeksem.</a:t>
                      </a:r>
                    </a:p>
                    <a:p>
                      <a:r>
                        <a:rPr lang="pl-PL" sz="1600" dirty="0"/>
                        <a:t>Masz tylko </a:t>
                      </a:r>
                      <a:r>
                        <a:rPr lang="pl-PL" sz="1600" b="1" dirty="0"/>
                        <a:t>jedną</a:t>
                      </a:r>
                      <a:r>
                        <a:rPr lang="pl-PL" sz="1600" dirty="0"/>
                        <a:t> taką książkę (czyli tylko jeden indeks klastrowy na tabelę), bo dane mogą być fizycznie uporządkowane tylko raz.</a:t>
                      </a:r>
                    </a:p>
                    <a:p>
                      <a:endParaRPr lang="pl-PL" sz="1600" dirty="0"/>
                    </a:p>
                    <a:p>
                      <a:r>
                        <a:rPr lang="pl-PL" sz="1600" dirty="0"/>
                        <a:t>📘 </a:t>
                      </a:r>
                      <a:r>
                        <a:rPr lang="pl-PL" sz="1600" b="1" dirty="0"/>
                        <a:t>Przykład z życia:</a:t>
                      </a:r>
                      <a:r>
                        <a:rPr lang="pl-PL" sz="1600" dirty="0"/>
                        <a:t> Chcesz znaleźć numer telefonu osoby o nazwisku "Nowak". Otwierasz książkę i od razu trafiasz w okolice litery N, potem do "Nowak", i od razu masz wszystkie dane tej osoby – wszystko w jednym miejscu i w jednej strukturze.</a:t>
                      </a:r>
                    </a:p>
                    <a:p>
                      <a:endParaRPr lang="pl-P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600" b="1" dirty="0"/>
                        <a:t>To jak osobny spis treści lub indeks tematyczny w książce.</a:t>
                      </a:r>
                    </a:p>
                    <a:p>
                      <a:endParaRPr lang="pl-PL" sz="1600" dirty="0"/>
                    </a:p>
                    <a:p>
                      <a:r>
                        <a:rPr lang="pl-PL" sz="1600" dirty="0"/>
                        <a:t>Dane nie są fizycznie uporządkowane w tym indeksie.</a:t>
                      </a:r>
                    </a:p>
                    <a:p>
                      <a:r>
                        <a:rPr lang="pl-PL" sz="1600" dirty="0"/>
                        <a:t>Tworzony jest </a:t>
                      </a:r>
                      <a:r>
                        <a:rPr lang="pl-PL" sz="1600" b="1" dirty="0"/>
                        <a:t>oddzielny</a:t>
                      </a:r>
                      <a:r>
                        <a:rPr lang="pl-PL" sz="1600" dirty="0"/>
                        <a:t> spis (np. po numerze telefonu, po adresie, po ID), który zawiera skrócone informacje i wskazania (np. strony), gdzie znaleźć pełne dane.</a:t>
                      </a:r>
                    </a:p>
                    <a:p>
                      <a:r>
                        <a:rPr lang="pl-PL" sz="1600" dirty="0"/>
                        <a:t>Możesz mieć </a:t>
                      </a:r>
                      <a:r>
                        <a:rPr lang="pl-PL" sz="1600" b="1" dirty="0"/>
                        <a:t>wiele</a:t>
                      </a:r>
                      <a:r>
                        <a:rPr lang="pl-PL" sz="1600" dirty="0"/>
                        <a:t> indeksów nieklastrowych – np. spis według imienia, spis według ulicy itd.</a:t>
                      </a:r>
                    </a:p>
                    <a:p>
                      <a:endParaRPr lang="pl-PL" sz="1600" dirty="0"/>
                    </a:p>
                    <a:p>
                      <a:r>
                        <a:rPr lang="pl-PL" sz="1600" dirty="0"/>
                        <a:t>📘 </a:t>
                      </a:r>
                      <a:r>
                        <a:rPr lang="pl-PL" sz="1600" b="1" dirty="0"/>
                        <a:t>Przykład z życia:</a:t>
                      </a:r>
                      <a:r>
                        <a:rPr lang="pl-PL" sz="1600" dirty="0"/>
                        <a:t> Masz spis mieszkańców według ulicy (np. „ul. Kwiatowa” na stronie 134), ale dane w samej książce nie są uporządkowane według ulicy, tylko np. według nazwiska. Spis pomaga szybko zlokalizować, gdzie szukać, ale musisz potem przejść do tej strony, by dostać wszystkie dane</a:t>
                      </a:r>
                    </a:p>
                    <a:p>
                      <a:endParaRPr lang="pl-P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7366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2759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Indeks filtrujący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 anchor="t">
            <a:normAutofit/>
          </a:bodyPr>
          <a:lstStyle/>
          <a:p>
            <a:r>
              <a:rPr lang="pl-PL" sz="1600"/>
              <a:t>Indeks zawierający podzbiór wierszy na podstawie warunku filtrującego WHERE</a:t>
            </a:r>
          </a:p>
          <a:p>
            <a:r>
              <a:rPr lang="pl-PL" sz="1600"/>
              <a:t>Zazwyczaj zawiera ten sam warunek, co większość zapytań</a:t>
            </a:r>
          </a:p>
          <a:p>
            <a:r>
              <a:rPr lang="pl-PL" sz="1600"/>
              <a:t>Jest mniejszy od indeksu, który zawierałby wszystkie dane – a więc bardziej efektywny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150E1BC6-F152-4A10-B842-CEC8F6995E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560" y="2851179"/>
            <a:ext cx="7240010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392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Indeks pokrywający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 anchor="t">
            <a:normAutofit/>
          </a:bodyPr>
          <a:lstStyle/>
          <a:p>
            <a:r>
              <a:rPr lang="pl-PL" sz="1600"/>
              <a:t>Indeks zawierający wszystkie kolumny wymagane przez zapytanie</a:t>
            </a:r>
          </a:p>
          <a:p>
            <a:r>
              <a:rPr lang="pl-PL" sz="1600"/>
              <a:t>Brak konieczności wyszukiwania danych w klastrze/ stercie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A77CEAC2-49CB-4605-9D17-8EFFA7B47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473" y="2275211"/>
            <a:ext cx="6868484" cy="2038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9917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Fragmentacja indeksów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6683" y="868680"/>
            <a:ext cx="7315200" cy="5120640"/>
          </a:xfrm>
        </p:spPr>
        <p:txBody>
          <a:bodyPr anchor="t">
            <a:normAutofit/>
          </a:bodyPr>
          <a:lstStyle/>
          <a:p>
            <a:r>
              <a:rPr lang="pl-PL" sz="1600" dirty="0"/>
              <a:t>Rodzaje fragmentacji</a:t>
            </a:r>
          </a:p>
          <a:p>
            <a:pPr lvl="1"/>
            <a:r>
              <a:rPr lang="pl-PL" sz="1400" dirty="0"/>
              <a:t>Wewnętrzna (</a:t>
            </a:r>
            <a:r>
              <a:rPr lang="pl-PL" sz="1400" dirty="0" err="1"/>
              <a:t>Internal</a:t>
            </a:r>
            <a:r>
              <a:rPr lang="pl-PL" sz="1400" dirty="0"/>
              <a:t>) strony indeksu nie są w pełni zapełnione</a:t>
            </a:r>
          </a:p>
          <a:p>
            <a:pPr lvl="1"/>
            <a:r>
              <a:rPr lang="pl-PL" sz="1400" dirty="0"/>
              <a:t>Zewnętrzna (</a:t>
            </a:r>
            <a:r>
              <a:rPr lang="pl-PL" sz="1400" dirty="0" err="1"/>
              <a:t>External</a:t>
            </a:r>
            <a:r>
              <a:rPr lang="pl-PL" sz="1400" dirty="0"/>
              <a:t>) strony indeksu nie są w logicznym porządku</a:t>
            </a:r>
          </a:p>
          <a:p>
            <a:r>
              <a:rPr lang="pl-PL" sz="1600" dirty="0"/>
              <a:t>Sposoby wykrywania fragmentacji</a:t>
            </a:r>
          </a:p>
          <a:p>
            <a:pPr lvl="1"/>
            <a:r>
              <a:rPr lang="pl-PL" sz="1400" dirty="0"/>
              <a:t>SSMS</a:t>
            </a:r>
          </a:p>
          <a:p>
            <a:pPr lvl="1"/>
            <a:r>
              <a:rPr lang="pl-PL" sz="1400" dirty="0"/>
              <a:t>Funkcja </a:t>
            </a:r>
            <a:r>
              <a:rPr lang="pl-PL" sz="1400" b="1" i="1" dirty="0" err="1"/>
              <a:t>sys.dm_index_physical_stats</a:t>
            </a:r>
            <a:endParaRPr lang="pl-PL" sz="1400" b="1" i="1" dirty="0"/>
          </a:p>
          <a:p>
            <a:r>
              <a:rPr lang="pl-PL" sz="1600" dirty="0"/>
              <a:t>Usuwanie fragmentacji indeksów</a:t>
            </a:r>
          </a:p>
          <a:p>
            <a:pPr lvl="1"/>
            <a:r>
              <a:rPr lang="pl-PL" sz="1400" dirty="0"/>
              <a:t>REORGANIZE – reorganizacja indeksu fragmentacja 10-30%</a:t>
            </a:r>
          </a:p>
          <a:p>
            <a:pPr lvl="1"/>
            <a:r>
              <a:rPr lang="pl-PL" sz="1400" dirty="0"/>
              <a:t>REBUILD – przebudowa indeksu fragmentacja &gt;30%</a:t>
            </a:r>
          </a:p>
          <a:p>
            <a:pPr lvl="1"/>
            <a:r>
              <a:rPr lang="pl-PL" sz="1400" dirty="0"/>
              <a:t>FILLFACTOR – stopień wypełnienia stron</a:t>
            </a:r>
          </a:p>
          <a:p>
            <a:pPr lvl="2"/>
            <a:r>
              <a:rPr lang="pl-PL" sz="1200" dirty="0"/>
              <a:t>Plusy – nie następuje (tak szybko) fragmentacja</a:t>
            </a:r>
          </a:p>
          <a:p>
            <a:pPr lvl="2"/>
            <a:r>
              <a:rPr lang="pl-PL" sz="1200" dirty="0"/>
              <a:t>Minusy – większa baza, mniej dostępnej pamięci,</a:t>
            </a:r>
          </a:p>
          <a:p>
            <a:pPr lvl="2"/>
            <a:r>
              <a:rPr lang="pl-PL" sz="1200" dirty="0"/>
              <a:t>zapytania wykonują się dłużej,</a:t>
            </a:r>
          </a:p>
          <a:p>
            <a:pPr lvl="2"/>
            <a:r>
              <a:rPr lang="pl-PL" sz="1200" dirty="0"/>
              <a:t>przebudowa indeksów trwa dłużej</a:t>
            </a:r>
            <a:endParaRPr lang="pl-PL" sz="1400" dirty="0"/>
          </a:p>
        </p:txBody>
      </p:sp>
    </p:spTree>
    <p:extLst>
      <p:ext uri="{BB962C8B-B14F-4D97-AF65-F5344CB8AC3E}">
        <p14:creationId xmlns:p14="http://schemas.microsoft.com/office/powerpoint/2010/main" val="1979787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4A3A4-2A41-C679-FEC4-38CE60705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492330D-F553-D1F3-5877-E7E5E6AB7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Polecenie SHRINK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7FD41F2-EF10-4A3C-3B24-AD184ACC5F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6683" y="868680"/>
            <a:ext cx="7315200" cy="5120640"/>
          </a:xfrm>
        </p:spPr>
        <p:txBody>
          <a:bodyPr anchor="t">
            <a:normAutofit/>
          </a:bodyPr>
          <a:lstStyle/>
          <a:p>
            <a:r>
              <a:rPr lang="pl-PL" sz="1800" dirty="0"/>
              <a:t>W SQL Server baza danych sama nie odzyskuje miejsca na zdefragmentowanych stronach automatycznie.</a:t>
            </a:r>
          </a:p>
          <a:p>
            <a:r>
              <a:rPr lang="pl-PL" sz="1800" dirty="0"/>
              <a:t>Aby odzyskać miejsce na zdefragmentowanych stronach lub w plikach, które zawierają wiele pustych stron, można użyć polecenia SHRINK. </a:t>
            </a:r>
          </a:p>
          <a:p>
            <a:r>
              <a:rPr lang="pl-PL" sz="1800" dirty="0"/>
              <a:t>Polecenie to pozwala na zredukowanie rozmiaru plików danych lub dziennika, przenosząc strony danych do przodu pliku i zwalniając nieużywane miejsce na końcu pliku</a:t>
            </a:r>
          </a:p>
          <a:p>
            <a:r>
              <a:rPr lang="pl-PL" sz="1800" dirty="0"/>
              <a:t>Jednak po operacji SHRINK może pojawić się problem z fragmentacją indeksów, co może negatywnie wpłynąć na wydajność zapytań. Dlatego zalecane jest odbudowanie indeksów po zastosowaniu SHRINK, aby usunąć fragmentację</a:t>
            </a:r>
          </a:p>
        </p:txBody>
      </p:sp>
    </p:spTree>
    <p:extLst>
      <p:ext uri="{BB962C8B-B14F-4D97-AF65-F5344CB8AC3E}">
        <p14:creationId xmlns:p14="http://schemas.microsoft.com/office/powerpoint/2010/main" val="5673481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52A6C-3203-9FC9-62CE-FF1EB5CB1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E4B830-FC15-4E30-9411-20C581D81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Polecenie SHRINK</a:t>
            </a:r>
            <a:br>
              <a:rPr lang="pl-PL" dirty="0"/>
            </a:br>
            <a:r>
              <a:rPr lang="pl-PL" dirty="0"/>
              <a:t>-</a:t>
            </a:r>
            <a:br>
              <a:rPr lang="pl-PL" dirty="0"/>
            </a:br>
            <a:r>
              <a:rPr lang="pl-PL" dirty="0"/>
              <a:t>rekomendacje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F15F618-30BE-2B15-2C55-A4280F5AF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26683" y="868680"/>
            <a:ext cx="7315200" cy="5120640"/>
          </a:xfrm>
        </p:spPr>
        <p:txBody>
          <a:bodyPr anchor="t">
            <a:normAutofit lnSpcReduction="10000"/>
          </a:bodyPr>
          <a:lstStyle/>
          <a:p>
            <a:r>
              <a:rPr lang="pl-PL" sz="1800" dirty="0"/>
              <a:t>Operacja SHRINK jest najbardziej skuteczna po operacji, która tworzy dużą ilość nieużywanej przestrzeni dyskowej, takiej jak duża instrukcja DELETE, TRUNCATE tabeli lub operacja usunięcia tabeli.</a:t>
            </a:r>
          </a:p>
          <a:p>
            <a:r>
              <a:rPr lang="pl-PL" sz="1800" dirty="0"/>
              <a:t>Większość baz danych wymaga pewnej ilości wolnego miejsca, aby były dostępne do regularnych codziennych operacji. Jeśli wielokrotnie zmniejszasz plik bazy danych i zauważysz, że rozmiar bazy danych ponownie rośnie, oznacza to, że wolne miejsce jest wymagane do regularnych operacji. W takich przypadkach wielokrotne zmniejszanie pliku bazy danych jest operacją zmarnowaną. </a:t>
            </a:r>
          </a:p>
          <a:p>
            <a:r>
              <a:rPr lang="pl-PL" sz="1800" dirty="0"/>
              <a:t>Ustawienie AUTOGROW niezbędne do zwiększenia pliku bazy danych utrudniają wydajność.</a:t>
            </a:r>
          </a:p>
          <a:p>
            <a:r>
              <a:rPr lang="pl-PL" sz="1800" dirty="0"/>
              <a:t>Dane, które są przenoszone w celu zmniejszenia pliku, mogą zostać rozproszone do dowolnej dostępnej lokalizacji w pliku. Powoduje to fragmentację indeksu i może spowolnić działanie zapytań przeszukujących zakres indeksu. Aby wyeliminować fragmentację, należy rozważyć odbudowanie indeksów w pliku po </a:t>
            </a:r>
            <a:r>
              <a:rPr lang="pl-PL" sz="1800" dirty="0" err="1"/>
              <a:t>SHRINKu</a:t>
            </a:r>
            <a:r>
              <a:rPr lang="pl-PL" sz="1800" dirty="0"/>
              <a:t>.</a:t>
            </a:r>
          </a:p>
          <a:p>
            <a:r>
              <a:rPr lang="pl-PL" sz="1800" dirty="0"/>
              <a:t>Jeśli nie masz konkretnych wymagań, nie ustawiaj opcji bazy danych AUTO_SHRINK na ON.</a:t>
            </a:r>
          </a:p>
        </p:txBody>
      </p:sp>
      <p:sp>
        <p:nvSpPr>
          <p:cNvPr id="5" name="pole tekstowe 4">
            <a:extLst>
              <a:ext uri="{FF2B5EF4-FFF2-40B4-BE49-F238E27FC236}">
                <a16:creationId xmlns:a16="http://schemas.microsoft.com/office/drawing/2014/main" id="{6727CB55-F40E-1F86-33C5-DF541B4AC0C3}"/>
              </a:ext>
            </a:extLst>
          </p:cNvPr>
          <p:cNvSpPr txBox="1"/>
          <p:nvPr/>
        </p:nvSpPr>
        <p:spPr>
          <a:xfrm>
            <a:off x="3800854" y="5827264"/>
            <a:ext cx="793394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/>
              <a:t>Źródło:</a:t>
            </a:r>
            <a:endParaRPr lang="pl-PL" sz="1400" dirty="0">
              <a:hlinkClick r:id="rId2"/>
            </a:endParaRPr>
          </a:p>
          <a:p>
            <a:r>
              <a:rPr lang="pl-PL" sz="1400" dirty="0">
                <a:hlinkClick r:id="rId2"/>
              </a:rPr>
              <a:t>https://learn.microsoft.com/en-us/sql/relational-databases/databases/shrink-a-file?view=sql-server-ver16</a:t>
            </a:r>
            <a:endParaRPr lang="pl-PL" sz="1400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1039308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Widoki systemowe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pl-PL" sz="1600" b="1" dirty="0"/>
              <a:t>Statystyki użycia indeksów </a:t>
            </a:r>
          </a:p>
          <a:p>
            <a:pPr marL="0" indent="0" algn="ctr">
              <a:buNone/>
            </a:pPr>
            <a:r>
              <a:rPr lang="pl-PL" sz="1600" b="1" dirty="0" err="1"/>
              <a:t>sys.dm_db_index_usage_stats</a:t>
            </a:r>
            <a:endParaRPr lang="pl-PL" sz="1600" b="1" dirty="0"/>
          </a:p>
          <a:p>
            <a:endParaRPr lang="pl-PL" sz="1400" dirty="0"/>
          </a:p>
          <a:p>
            <a:r>
              <a:rPr lang="pl-PL" sz="1400" dirty="0" err="1"/>
              <a:t>user_seeks</a:t>
            </a:r>
            <a:r>
              <a:rPr lang="pl-PL" sz="1400" dirty="0"/>
              <a:t> – liczba operacji skanowania</a:t>
            </a:r>
          </a:p>
          <a:p>
            <a:r>
              <a:rPr lang="pl-PL" sz="1400" dirty="0" err="1"/>
              <a:t>user_scans</a:t>
            </a:r>
            <a:r>
              <a:rPr lang="pl-PL" sz="1400" dirty="0"/>
              <a:t> – liczba operacji przeszukiwania</a:t>
            </a:r>
          </a:p>
          <a:p>
            <a:r>
              <a:rPr lang="pl-PL" sz="1400" dirty="0" err="1"/>
              <a:t>user_lookups</a:t>
            </a:r>
            <a:r>
              <a:rPr lang="pl-PL" sz="1400" dirty="0"/>
              <a:t> – liczba operacji </a:t>
            </a:r>
            <a:r>
              <a:rPr lang="pl-PL" sz="1400" dirty="0" err="1"/>
              <a:t>lookup</a:t>
            </a:r>
            <a:r>
              <a:rPr lang="pl-PL" sz="1400" dirty="0"/>
              <a:t> (doczytywanie z indeksu klastrowego)</a:t>
            </a:r>
          </a:p>
          <a:p>
            <a:r>
              <a:rPr lang="pl-PL" sz="1400" dirty="0" err="1"/>
              <a:t>last_user_seek</a:t>
            </a:r>
            <a:r>
              <a:rPr lang="pl-PL" sz="1400" dirty="0"/>
              <a:t>/</a:t>
            </a:r>
            <a:r>
              <a:rPr lang="pl-PL" sz="1400" dirty="0" err="1"/>
              <a:t>scan</a:t>
            </a:r>
            <a:r>
              <a:rPr lang="pl-PL" sz="1400" dirty="0"/>
              <a:t>/</a:t>
            </a:r>
            <a:r>
              <a:rPr lang="pl-PL" sz="1400" dirty="0" err="1"/>
              <a:t>lookup</a:t>
            </a:r>
            <a:r>
              <a:rPr lang="pl-PL" sz="1400" dirty="0"/>
              <a:t> – czas ostatniej operacji skanowania/ …</a:t>
            </a:r>
          </a:p>
          <a:p>
            <a:r>
              <a:rPr lang="pl-PL" sz="1400" dirty="0"/>
              <a:t>Dane są usuwane podczas restartu instancji</a:t>
            </a:r>
          </a:p>
          <a:p>
            <a:r>
              <a:rPr lang="pl-PL" sz="1400" dirty="0"/>
              <a:t>Prezentuje tylko dane o używanych indeksach</a:t>
            </a:r>
          </a:p>
          <a:p>
            <a:r>
              <a:rPr lang="pl-PL" sz="1400" dirty="0"/>
              <a:t>Łącząc z </a:t>
            </a:r>
            <a:r>
              <a:rPr lang="pl-PL" sz="1400" dirty="0" err="1"/>
              <a:t>sys.indexes</a:t>
            </a:r>
            <a:r>
              <a:rPr lang="pl-PL" sz="1400" dirty="0"/>
              <a:t> (OUTER JOIN) – pozwala na wyszukanie nieużywanych indeksów.</a:t>
            </a:r>
          </a:p>
          <a:p>
            <a:pPr marL="0" indent="0" algn="ctr">
              <a:buNone/>
            </a:pPr>
            <a:endParaRPr lang="pl-PL" sz="1400" b="1" dirty="0"/>
          </a:p>
          <a:p>
            <a:pPr marL="0" indent="0" algn="ctr">
              <a:buNone/>
            </a:pPr>
            <a:r>
              <a:rPr lang="pl-PL" sz="1600" b="1" dirty="0" err="1"/>
              <a:t>sys.dm_db_missing_index_details</a:t>
            </a:r>
            <a:endParaRPr lang="pl-PL" sz="1600" b="1" dirty="0"/>
          </a:p>
          <a:p>
            <a:r>
              <a:rPr lang="pl-PL" sz="1400" dirty="0"/>
              <a:t>Widok pozwalający odczytać informacje o indeksach, które przyśpieszyłyby zapytania które były wykonywane</a:t>
            </a:r>
          </a:p>
          <a:p>
            <a:r>
              <a:rPr lang="pl-PL" sz="1400" dirty="0"/>
              <a:t>Dane są usuwane podczas restartu instancji</a:t>
            </a:r>
          </a:p>
          <a:p>
            <a:pPr marL="0" indent="0">
              <a:buNone/>
            </a:pPr>
            <a:endParaRPr lang="pl-PL" sz="1400" b="1" dirty="0"/>
          </a:p>
          <a:p>
            <a:pPr marL="0" indent="0">
              <a:buNone/>
            </a:pPr>
            <a:endParaRPr lang="pl-PL" sz="1400" dirty="0"/>
          </a:p>
        </p:txBody>
      </p:sp>
    </p:spTree>
    <p:extLst>
      <p:ext uri="{BB962C8B-B14F-4D97-AF65-F5344CB8AC3E}">
        <p14:creationId xmlns:p14="http://schemas.microsoft.com/office/powerpoint/2010/main" val="9136666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DML </a:t>
            </a:r>
            <a:br>
              <a:rPr lang="pl-PL"/>
            </a:br>
            <a:r>
              <a:rPr lang="pl-PL"/>
              <a:t>vs </a:t>
            </a:r>
            <a:br>
              <a:rPr lang="pl-PL"/>
            </a:br>
            <a:r>
              <a:rPr lang="pl-PL"/>
              <a:t>indeksy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pl-PL" b="1" dirty="0"/>
              <a:t>Wpływ poleceń DML na indeksy</a:t>
            </a:r>
          </a:p>
          <a:p>
            <a:endParaRPr lang="pl-PL" sz="1400" dirty="0"/>
          </a:p>
          <a:p>
            <a:r>
              <a:rPr lang="pl-PL" sz="1600" dirty="0"/>
              <a:t>Liczba indeksów w tabeli jest najbardziej dominującym czynnikiem wpływającym na wydajność wstawiania. Im więcej indeksów ma tabela, tym wolniejsze staje się wykonanie.</a:t>
            </a:r>
          </a:p>
          <a:p>
            <a:r>
              <a:rPr lang="pl-PL" sz="1600" dirty="0"/>
              <a:t>Instrukcja insert jest jedyną operacją, która nie może bezpośrednio korzystać z indeksowania, ponieważ nie ma klauzuli </a:t>
            </a:r>
            <a:r>
              <a:rPr lang="pl-PL" sz="1600" dirty="0" err="1"/>
              <a:t>where</a:t>
            </a:r>
            <a:r>
              <a:rPr lang="pl-PL" sz="1600" dirty="0"/>
              <a:t>.</a:t>
            </a:r>
          </a:p>
          <a:p>
            <a:endParaRPr lang="pl-PL" sz="1400" dirty="0"/>
          </a:p>
          <a:p>
            <a:pPr marL="0" indent="0">
              <a:buNone/>
            </a:pPr>
            <a:endParaRPr lang="pl-PL" sz="1400" dirty="0"/>
          </a:p>
        </p:txBody>
      </p:sp>
    </p:spTree>
    <p:extLst>
      <p:ext uri="{BB962C8B-B14F-4D97-AF65-F5344CB8AC3E}">
        <p14:creationId xmlns:p14="http://schemas.microsoft.com/office/powerpoint/2010/main" val="2199628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DML </a:t>
            </a:r>
            <a:br>
              <a:rPr lang="pl-PL"/>
            </a:br>
            <a:r>
              <a:rPr lang="pl-PL"/>
              <a:t>vs </a:t>
            </a:r>
            <a:br>
              <a:rPr lang="pl-PL"/>
            </a:br>
            <a:r>
              <a:rPr lang="pl-PL"/>
              <a:t>indeksy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pl-PL" b="1" dirty="0"/>
              <a:t>DML -&gt; indeksy</a:t>
            </a:r>
          </a:p>
          <a:p>
            <a:endParaRPr lang="pl-PL" sz="1400" dirty="0"/>
          </a:p>
          <a:p>
            <a:r>
              <a:rPr lang="pl-PL" sz="1600" dirty="0"/>
              <a:t>Najpierw baza danych musi znaleźć miejsce do przechowywania wiersza. </a:t>
            </a:r>
          </a:p>
          <a:p>
            <a:endParaRPr lang="pl-PL" sz="1600" dirty="0"/>
          </a:p>
          <a:p>
            <a:r>
              <a:rPr lang="pl-PL" sz="1600" dirty="0"/>
              <a:t>W przypadku zwykłej tabeli sterty — która nie ma określonej kolejności wierszy — baza danych może zająć dowolny blok tabeli, który ma wystarczającą ilość wolnego miejsca. Jest to bardzo prosty i szybki proces, najczęściej wykonywany w pamięci głównej. Baza danych musi tylko dodać nowy wpis do odpowiedniego bloku danych.</a:t>
            </a:r>
          </a:p>
          <a:p>
            <a:endParaRPr lang="pl-PL" sz="1600" dirty="0"/>
          </a:p>
          <a:p>
            <a:r>
              <a:rPr lang="pl-PL" sz="1600" dirty="0"/>
              <a:t>Jeśli w tabeli znajdują się indeksy, baza danych musi upewnić się, że nowy wpis zostanie również znaleziony za pomocą tych indeksów. Z tego powodu musi dodać nowy wpis do każdego indeksu w tej tabeli. Liczba indeksów jest zatem mnożnikiem kosztu instrukcji wstawiania.</a:t>
            </a:r>
          </a:p>
          <a:p>
            <a:pPr marL="0" indent="0">
              <a:buNone/>
            </a:pPr>
            <a:endParaRPr lang="pl-PL" sz="1400" dirty="0"/>
          </a:p>
        </p:txBody>
      </p:sp>
    </p:spTree>
    <p:extLst>
      <p:ext uri="{BB962C8B-B14F-4D97-AF65-F5344CB8AC3E}">
        <p14:creationId xmlns:p14="http://schemas.microsoft.com/office/powerpoint/2010/main" val="2405805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DML </a:t>
            </a:r>
            <a:br>
              <a:rPr lang="pl-PL"/>
            </a:br>
            <a:r>
              <a:rPr lang="pl-PL"/>
              <a:t>vs </a:t>
            </a:r>
            <a:br>
              <a:rPr lang="pl-PL"/>
            </a:br>
            <a:r>
              <a:rPr lang="pl-PL"/>
              <a:t>indeksy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 anchor="t">
            <a:normAutofit fontScale="92500"/>
          </a:bodyPr>
          <a:lstStyle/>
          <a:p>
            <a:pPr marL="0" indent="0" algn="ctr">
              <a:buNone/>
            </a:pPr>
            <a:r>
              <a:rPr lang="pl-PL" b="1" dirty="0"/>
              <a:t>DML -&gt; indeksy</a:t>
            </a:r>
          </a:p>
          <a:p>
            <a:endParaRPr lang="pl-PL" sz="1600" dirty="0"/>
          </a:p>
          <a:p>
            <a:r>
              <a:rPr lang="pl-PL" sz="1600" dirty="0"/>
              <a:t>Ponadto dodanie wpisu do indeksu jest znacznie droższe niż wstawienie go do struktury sterty, ponieważ baza danych musi zachować kolejność indeksów i równowagę drzewa. </a:t>
            </a:r>
          </a:p>
          <a:p>
            <a:pPr lvl="1"/>
            <a:r>
              <a:rPr lang="pl-PL" sz="1400" dirty="0"/>
              <a:t>Oznacza to, że nowego wpisu nie można zapisać w jakimkolwiek bloku — należy on do określonego węzła liścia. </a:t>
            </a:r>
          </a:p>
          <a:p>
            <a:pPr lvl="1"/>
            <a:r>
              <a:rPr lang="pl-PL" sz="1400" dirty="0"/>
              <a:t>Chociaż baza danych korzysta z samego drzewa indeksów, aby znaleźć właściwy węzeł liścia, nadal musi odczytać kilka bloków indeksu, aby przejść przez drzewo.</a:t>
            </a:r>
          </a:p>
          <a:p>
            <a:pPr lvl="1"/>
            <a:r>
              <a:rPr lang="pl-PL" sz="1400" dirty="0"/>
              <a:t>Po zidentyfikowaniu prawidłowego węzła-liścia baza danych potwierdza, że w tym węźle jest wystarczająca ilość wolnego miejsca. </a:t>
            </a:r>
          </a:p>
          <a:p>
            <a:pPr lvl="1"/>
            <a:r>
              <a:rPr lang="pl-PL" sz="1400" dirty="0"/>
              <a:t>Jeśli nie, baza danych dzieli węzeł liścia i rozdziela wpisy między starym a nowym węzłem. Ten proces wpływa również na odwołanie w odpowiednim węźle gałęzi, ponieważ również musi zostać zduplikowany. </a:t>
            </a:r>
          </a:p>
          <a:p>
            <a:pPr lvl="1"/>
            <a:r>
              <a:rPr lang="pl-PL" sz="1400" dirty="0"/>
              <a:t>Oczywiście w węźle rozgałęzienia może również zabraknąć miejsca, więc może być również konieczne jego podzielenie. </a:t>
            </a:r>
          </a:p>
          <a:p>
            <a:pPr lvl="1"/>
            <a:r>
              <a:rPr lang="pl-PL" sz="1400" dirty="0"/>
              <a:t>W najgorszym przypadku baza danych musi podzielić wszystkie węzły aż do węzła głównego. Jest to jedyny przypadek, w którym drzewo zyskuje dodatkową warstwę i wrasta głębiej.</a:t>
            </a:r>
          </a:p>
          <a:p>
            <a:r>
              <a:rPr lang="pl-PL" sz="1600" dirty="0"/>
              <a:t>Aby zoptymalizować polecenie INSERT, istotne jest, by liczba indeksów była niewielka</a:t>
            </a:r>
          </a:p>
          <a:p>
            <a:r>
              <a:rPr lang="pl-PL" sz="1600" dirty="0"/>
              <a:t>Używaj indeksów celowo i oszczędnie oraz unikaj zbędnych indeksów, gdy tylko jest to możliwe. Jest to również korzystne dla instrukcji DELETE i UPDATE</a:t>
            </a:r>
          </a:p>
        </p:txBody>
      </p:sp>
    </p:spTree>
    <p:extLst>
      <p:ext uri="{BB962C8B-B14F-4D97-AF65-F5344CB8AC3E}">
        <p14:creationId xmlns:p14="http://schemas.microsoft.com/office/powerpoint/2010/main" val="3441940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DML </a:t>
            </a:r>
            <a:br>
              <a:rPr lang="pl-PL"/>
            </a:br>
            <a:r>
              <a:rPr lang="pl-PL"/>
              <a:t>vs </a:t>
            </a:r>
            <a:br>
              <a:rPr lang="pl-PL"/>
            </a:br>
            <a:r>
              <a:rPr lang="pl-PL"/>
              <a:t>indeksy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864107"/>
            <a:ext cx="7315200" cy="5120640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pl-PL" b="1" dirty="0"/>
              <a:t>DML -&gt; indeksy</a:t>
            </a:r>
          </a:p>
          <a:p>
            <a:endParaRPr lang="pl-PL" sz="1600" dirty="0"/>
          </a:p>
          <a:p>
            <a:r>
              <a:rPr lang="pl-PL" sz="1600" dirty="0"/>
              <a:t>Niemniej jednak wydajność bez indeksów jest tak dobra, że sensowne może być tymczasowe usunięcie wszystkich indeksów podczas ładowania dużych ilości danych — pod warunkiem, że w międzyczasie indeksy nie są potrzebne żadnym innym instrukcjom SQL. </a:t>
            </a:r>
          </a:p>
          <a:p>
            <a:r>
              <a:rPr lang="pl-PL" sz="1600" dirty="0"/>
              <a:t>Może to wywołać spore przyspieszenie, które jest widoczne na wykresie i jest w rzeczywistości powszechną praktyką w hurtowniach danych.</a:t>
            </a:r>
          </a:p>
          <a:p>
            <a:endParaRPr lang="pl-PL" sz="1600" dirty="0"/>
          </a:p>
          <a:p>
            <a:endParaRPr lang="pl-PL" sz="1600" dirty="0"/>
          </a:p>
        </p:txBody>
      </p:sp>
      <p:graphicFrame>
        <p:nvGraphicFramePr>
          <p:cNvPr id="4" name="Wykres 3">
            <a:extLst>
              <a:ext uri="{FF2B5EF4-FFF2-40B4-BE49-F238E27FC236}">
                <a16:creationId xmlns:a16="http://schemas.microsoft.com/office/drawing/2014/main" id="{4BCE7A1E-4A6A-2ADD-3D3E-7A85B369BF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2302894"/>
              </p:ext>
            </p:extLst>
          </p:nvPr>
        </p:nvGraphicFramePr>
        <p:xfrm>
          <a:off x="3893574" y="1261872"/>
          <a:ext cx="7315200" cy="49336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661061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Indeksy online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4115" y="1888235"/>
            <a:ext cx="7315200" cy="2830069"/>
          </a:xfrm>
        </p:spPr>
        <p:txBody>
          <a:bodyPr anchor="t">
            <a:normAutofit fontScale="92500"/>
          </a:bodyPr>
          <a:lstStyle/>
          <a:p>
            <a:pPr>
              <a:lnSpc>
                <a:spcPct val="200000"/>
              </a:lnSpc>
            </a:pPr>
            <a:r>
              <a:rPr lang="pl-PL" sz="1600" dirty="0"/>
              <a:t>Indeksy online w SQL Server to funkcja, która umożliwia tworzenie, odbudowywanie lub usuwanie indeksów </a:t>
            </a:r>
            <a:r>
              <a:rPr lang="pl-PL" sz="1600" b="1" dirty="0"/>
              <a:t>bez blokowania tabel, na których są one tworzone. </a:t>
            </a:r>
          </a:p>
          <a:p>
            <a:pPr>
              <a:lnSpc>
                <a:spcPct val="200000"/>
              </a:lnSpc>
            </a:pPr>
            <a:r>
              <a:rPr lang="pl-PL" sz="1600" dirty="0"/>
              <a:t>Oznacza to, że podczas operacji na indeksach dane w tabeli są nadal dostępne do odczytu i zapisu przez inne operacje, co minimalizuje przestoje w aplikacjach korzystających z tych danych.</a:t>
            </a:r>
            <a:endParaRPr lang="pl-PL" sz="1800" dirty="0"/>
          </a:p>
          <a:p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2922298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Indeksy online</a:t>
            </a:r>
          </a:p>
        </p:txBody>
      </p:sp>
      <p:pic>
        <p:nvPicPr>
          <p:cNvPr id="2050" name="Picture 2" descr="Activities performed during online index operation">
            <a:extLst>
              <a:ext uri="{FF2B5EF4-FFF2-40B4-BE49-F238E27FC236}">
                <a16:creationId xmlns:a16="http://schemas.microsoft.com/office/drawing/2014/main" id="{EBBDE046-21FA-64D4-2582-A93369CDCA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2470" y="282543"/>
            <a:ext cx="4886325" cy="614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90556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Indeksy online</a:t>
            </a:r>
          </a:p>
        </p:txBody>
      </p:sp>
      <p:graphicFrame>
        <p:nvGraphicFramePr>
          <p:cNvPr id="7" name="Symbol zastępczy zawartości 6">
            <a:extLst>
              <a:ext uri="{FF2B5EF4-FFF2-40B4-BE49-F238E27FC236}">
                <a16:creationId xmlns:a16="http://schemas.microsoft.com/office/drawing/2014/main" id="{1B7DBD34-DEAC-6F6E-AC1A-BF34BE9B5E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2561684"/>
              </p:ext>
            </p:extLst>
          </p:nvPr>
        </p:nvGraphicFramePr>
        <p:xfrm>
          <a:off x="3774315" y="335280"/>
          <a:ext cx="8164766" cy="635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6285">
                  <a:extLst>
                    <a:ext uri="{9D8B030D-6E8A-4147-A177-3AD203B41FA5}">
                      <a16:colId xmlns:a16="http://schemas.microsoft.com/office/drawing/2014/main" val="975563152"/>
                    </a:ext>
                  </a:extLst>
                </a:gridCol>
                <a:gridCol w="4123944">
                  <a:extLst>
                    <a:ext uri="{9D8B030D-6E8A-4147-A177-3AD203B41FA5}">
                      <a16:colId xmlns:a16="http://schemas.microsoft.com/office/drawing/2014/main" val="3408867628"/>
                    </a:ext>
                  </a:extLst>
                </a:gridCol>
                <a:gridCol w="3014537">
                  <a:extLst>
                    <a:ext uri="{9D8B030D-6E8A-4147-A177-3AD203B41FA5}">
                      <a16:colId xmlns:a16="http://schemas.microsoft.com/office/drawing/2014/main" val="692588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dirty="0"/>
                        <a:t>Faza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Aktywność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dirty="0"/>
                        <a:t>Blokady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774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sz="11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Preparation</a:t>
                      </a:r>
                      <a:endParaRPr lang="pl-PL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Przygotowanie metadanych systemowych do utworzenia nowej pustej struktury indeksu.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 (Shared) </a:t>
                      </a:r>
                      <a:r>
                        <a:rPr lang="pl-PL" sz="11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 tabeli</a:t>
                      </a:r>
                      <a:br>
                        <a:rPr lang="en-US" sz="1100" dirty="0"/>
                      </a:br>
                      <a:br>
                        <a:rPr lang="en-US" sz="1100" dirty="0"/>
                      </a:br>
                      <a:r>
                        <a:rPr 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 (Intent Shared)</a:t>
                      </a:r>
                      <a:endParaRPr lang="pl-PL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82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sz="1100" b="1"/>
                        <a:t>Short phase</a:t>
                      </a:r>
                      <a:endParaRPr lang="pl-PL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Zdefiniowana jest migawka tabeli. Oznacza to, że wersjonowanie wierszy jest używane w celu zapewnienia spójności odczytu na poziomie transakcji. </a:t>
                      </a:r>
                    </a:p>
                    <a:p>
                      <a:endParaRPr lang="pl-PL" sz="1100" dirty="0"/>
                    </a:p>
                    <a:p>
                      <a:r>
                        <a:rPr lang="pl-PL" sz="1100" dirty="0"/>
                        <a:t>Współbieżne operacje zapisu użytkownika na źródle są blokowane na krótki okres. </a:t>
                      </a:r>
                    </a:p>
                    <a:p>
                      <a:endParaRPr lang="pl-PL" sz="1100" dirty="0"/>
                    </a:p>
                    <a:p>
                      <a:r>
                        <a:rPr lang="pl-PL" sz="1100" dirty="0"/>
                        <a:t>Żadne współbieżne operacje DDL nie są dozwolone, z wyjątkiem tworzenia wielu indeksów </a:t>
                      </a:r>
                      <a:r>
                        <a:rPr lang="pl-PL" sz="1100" dirty="0" err="1"/>
                        <a:t>nieklastrowanych</a:t>
                      </a:r>
                      <a:r>
                        <a:rPr lang="pl-PL" sz="11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INDEX_BUILD_INTERNAL_RESOURCE</a:t>
                      </a:r>
                    </a:p>
                    <a:p>
                      <a:r>
                        <a:rPr lang="pl-PL" sz="1100" dirty="0"/>
                        <a:t>(zapobiega wykonywaniu współbieżnych operacji języka definicji danych (DDL) na źródle i wcześniej istniejących strukturach, podczas gdy operacja indeksu jest w toku. Na przykład, blokada ta zapobiega jednoczesnej odbudowie dwóch indeksów na tej samej tabeli. Chociaż ta blokada zasobów jest powiązana z blokadą </a:t>
                      </a:r>
                      <a:r>
                        <a:rPr lang="pl-PL" sz="1100" dirty="0" err="1"/>
                        <a:t>Sch</a:t>
                      </a:r>
                      <a:r>
                        <a:rPr lang="pl-PL" sz="1100" dirty="0"/>
                        <a:t>-M, nie zapobiega ona instrukcjom manipulacji danymi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1289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l-PL" sz="1100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7075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l-PL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Build</a:t>
                      </a:r>
                      <a:endParaRPr lang="pl-PL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Dane są skanowane, sortowane, łączone i wstawiane do celu w operacjach ładowania zbiorczego.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554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l-PL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Main phase</a:t>
                      </a:r>
                      <a:endParaRPr lang="pl-PL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Współbieżne operacje wyboru, wstawiania, aktualizacji i usuwania są stosowane zarówno do wcześniej istniejących indeksów, jak i wszelkich nowych indeksów, które są tworzone.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INDEX_BUILD_INTERNAL_RESOURCE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4191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pl-PL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l-PL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973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l-PL" sz="1100" b="1" kern="120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Final</a:t>
                      </a:r>
                      <a:endParaRPr lang="pl-PL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Wszystkie niezatwierdzone transakcje aktualizacji muszą zostać zakończone przed rozpoczęciem tej fazy. W zależności od uzyskanej blokady, wszystkie nowe transakcje odczytu lub zapisu użytkownika są blokowane na krótki okres do czasu zakończenia tej fazy.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INDEX_BUILD_INTERNAL_RESOURCE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6193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l-PL" sz="11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Short</a:t>
                      </a:r>
                      <a:r>
                        <a:rPr lang="pl-PL" sz="11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pl-PL" sz="1100" b="1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phase</a:t>
                      </a:r>
                      <a:endParaRPr lang="pl-PL" sz="11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100" dirty="0"/>
                        <a:t>Metadane systemowe są aktualizowane w celu zastąpienia źródła obiektem docelowym. </a:t>
                      </a:r>
                    </a:p>
                    <a:p>
                      <a:endParaRPr lang="pl-PL" sz="1100" dirty="0"/>
                    </a:p>
                    <a:p>
                      <a:r>
                        <a:rPr lang="pl-PL" sz="1100" dirty="0"/>
                        <a:t>Źródło jest usuwane, jeśli jest wymagane. Na przykład po przebudowaniu lub usunięciu indeksu klastrowego.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 </a:t>
                      </a:r>
                      <a:r>
                        <a:rPr lang="pl-PL" sz="1100" dirty="0"/>
                        <a:t>na tabeli jeśli jest tworzony indeks </a:t>
                      </a:r>
                      <a:r>
                        <a:rPr lang="pl-PL" sz="1100" dirty="0" err="1"/>
                        <a:t>nieklastrowany</a:t>
                      </a:r>
                      <a:endParaRPr lang="pl-PL" sz="1100" dirty="0"/>
                    </a:p>
                    <a:p>
                      <a:endParaRPr lang="pl-PL" sz="1100" dirty="0"/>
                    </a:p>
                    <a:p>
                      <a:r>
                        <a:rPr lang="pl-PL" sz="1100" dirty="0"/>
                        <a:t>SCH-M (</a:t>
                      </a:r>
                      <a:r>
                        <a:rPr lang="pl-PL" sz="1100" dirty="0" err="1"/>
                        <a:t>Schema</a:t>
                      </a:r>
                      <a:r>
                        <a:rPr lang="pl-PL" sz="1100" dirty="0"/>
                        <a:t> </a:t>
                      </a:r>
                      <a:r>
                        <a:rPr lang="pl-PL" sz="1100" dirty="0" err="1"/>
                        <a:t>Modification</a:t>
                      </a:r>
                      <a:r>
                        <a:rPr lang="pl-PL" sz="1100" dirty="0"/>
                        <a:t>), jeśli jakakolwiek struktura źródłowa (indeks lub tabela) zostanie usunięta.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6858924"/>
                  </a:ext>
                </a:extLst>
              </a:tr>
            </a:tbl>
          </a:graphicData>
        </a:graphic>
      </p:graphicFrame>
      <p:sp>
        <p:nvSpPr>
          <p:cNvPr id="9" name="pole tekstowe 8">
            <a:extLst>
              <a:ext uri="{FF2B5EF4-FFF2-40B4-BE49-F238E27FC236}">
                <a16:creationId xmlns:a16="http://schemas.microsoft.com/office/drawing/2014/main" id="{81D72171-B39D-C7F6-D806-A0B49A10AB8A}"/>
              </a:ext>
            </a:extLst>
          </p:cNvPr>
          <p:cNvSpPr txBox="1"/>
          <p:nvPr/>
        </p:nvSpPr>
        <p:spPr>
          <a:xfrm>
            <a:off x="-77310" y="6083636"/>
            <a:ext cx="3469734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050" dirty="0"/>
              <a:t>Źródło: https://learn.microsoft.com/en-us/sql/relational-databases/indexes/how-online-index-operations-work?view=sql-server-ver16</a:t>
            </a:r>
          </a:p>
        </p:txBody>
      </p:sp>
    </p:spTree>
    <p:extLst>
      <p:ext uri="{BB962C8B-B14F-4D97-AF65-F5344CB8AC3E}">
        <p14:creationId xmlns:p14="http://schemas.microsoft.com/office/powerpoint/2010/main" val="27123085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Indeksy online</a:t>
            </a:r>
            <a:br>
              <a:rPr lang="pl-PL" dirty="0"/>
            </a:br>
            <a:r>
              <a:rPr lang="pl-PL" dirty="0"/>
              <a:t>-</a:t>
            </a:r>
            <a:br>
              <a:rPr lang="pl-PL" dirty="0"/>
            </a:br>
            <a:r>
              <a:rPr lang="pl-PL" dirty="0"/>
              <a:t>cechy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5243" y="726947"/>
            <a:ext cx="7315200" cy="5344669"/>
          </a:xfrm>
        </p:spPr>
        <p:txBody>
          <a:bodyPr anchor="t"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pl-PL" sz="1400" b="1" dirty="0"/>
              <a:t>Brak blokady tabeli: </a:t>
            </a:r>
            <a:r>
              <a:rPr lang="pl-PL" sz="1400" dirty="0"/>
              <a:t>Operacje związane z indeksami online nie blokują dostępu do danych, dzięki czemu inne zapytania mogą nadal odczytywać i modyfikować dane w tabeli podczas tworzenia lub odbudowywania indeksu.</a:t>
            </a:r>
          </a:p>
          <a:p>
            <a:pPr>
              <a:lnSpc>
                <a:spcPct val="160000"/>
              </a:lnSpc>
            </a:pPr>
            <a:r>
              <a:rPr lang="pl-PL" sz="1400" b="1" dirty="0"/>
              <a:t>Większa dostępność aplikacji: </a:t>
            </a:r>
            <a:r>
              <a:rPr lang="pl-PL" sz="1400" dirty="0"/>
              <a:t>Dzięki temu, że operacje na indeksach online nie blokują tabeli, aplikacje mogą działać praktycznie bez przerw, co jest kluczowe w środowiskach o wysokiej dostępności.</a:t>
            </a:r>
          </a:p>
          <a:p>
            <a:pPr>
              <a:lnSpc>
                <a:spcPct val="160000"/>
              </a:lnSpc>
            </a:pPr>
            <a:r>
              <a:rPr lang="pl-PL" sz="1400" b="1" dirty="0"/>
              <a:t>Dostępność tylko w wyższych edycjach SQL Server: </a:t>
            </a:r>
            <a:r>
              <a:rPr lang="pl-PL" sz="1400" dirty="0"/>
              <a:t>Funkcje związane z indeksami online są dostępne tylko w edycjach Enterprise i Developer (oraz w niektórych przypadkach w edycji Standard od wersji SQL Server 2019).</a:t>
            </a:r>
          </a:p>
          <a:p>
            <a:pPr>
              <a:lnSpc>
                <a:spcPct val="160000"/>
              </a:lnSpc>
            </a:pPr>
            <a:r>
              <a:rPr lang="pl-PL" sz="1400" b="1" dirty="0"/>
              <a:t>Większe zużycie zasobów: </a:t>
            </a:r>
            <a:r>
              <a:rPr lang="pl-PL" sz="1400" dirty="0"/>
              <a:t>Operacje na indeksach online mogą wymagać większej ilości pamięci i procesora niż operacje offline, ponieważ SQL Server musi zarządzać jednoczesnym dostępem do tabeli i indeksu.</a:t>
            </a:r>
          </a:p>
          <a:p>
            <a:pPr>
              <a:lnSpc>
                <a:spcPct val="160000"/>
              </a:lnSpc>
            </a:pPr>
            <a:r>
              <a:rPr lang="pl-PL" sz="1400" b="1" dirty="0"/>
              <a:t>Możliwość wystąpienia krótkich blokad: </a:t>
            </a:r>
            <a:r>
              <a:rPr lang="pl-PL" sz="1400" dirty="0"/>
              <a:t>Chociaż indeksy online minimalizują blokady, mogą wystąpić krótkie blokady (tzw. krótkotrwałe blokady SCH-M) na początku i końcu operacji, co może powodować krótkotrwałe przerwy w dostępie do danych.</a:t>
            </a:r>
          </a:p>
        </p:txBody>
      </p:sp>
    </p:spTree>
    <p:extLst>
      <p:ext uri="{BB962C8B-B14F-4D97-AF65-F5344CB8AC3E}">
        <p14:creationId xmlns:p14="http://schemas.microsoft.com/office/powerpoint/2010/main" val="2546567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Indeksy online</a:t>
            </a:r>
            <a:br>
              <a:rPr lang="pl-PL" dirty="0"/>
            </a:br>
            <a:r>
              <a:rPr lang="pl-PL" dirty="0"/>
              <a:t>-</a:t>
            </a:r>
            <a:br>
              <a:rPr lang="pl-PL" dirty="0"/>
            </a:br>
            <a:r>
              <a:rPr lang="pl-PL" dirty="0"/>
              <a:t>tworzenie i </a:t>
            </a:r>
            <a:r>
              <a:rPr lang="pl-PL" dirty="0" err="1"/>
              <a:t>rebuild</a:t>
            </a:r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D9693066-E1D4-C4CB-AA7A-EB49E6447BF3}"/>
              </a:ext>
            </a:extLst>
          </p:cNvPr>
          <p:cNvSpPr txBox="1"/>
          <p:nvPr/>
        </p:nvSpPr>
        <p:spPr>
          <a:xfrm>
            <a:off x="4585716" y="2064526"/>
            <a:ext cx="609904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l-PL" sz="1800" dirty="0">
                <a:solidFill>
                  <a:srgbClr val="0000FF"/>
                </a:solidFill>
                <a:latin typeface="Consolas" panose="020B0609020204030204" pitchFamily="49" charset="0"/>
              </a:rPr>
              <a:t>INDEX</a:t>
            </a:r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l-PL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IDX_IndexOnline</a:t>
            </a:r>
            <a:endParaRPr lang="pl-PL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l-PL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l-PL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AllData</a:t>
            </a:r>
            <a:r>
              <a:rPr lang="pl-PL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id</a:t>
            </a:r>
            <a:r>
              <a:rPr lang="pl-PL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pl-PL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l-PL" sz="1800" dirty="0">
                <a:solidFill>
                  <a:srgbClr val="0000FF"/>
                </a:solidFill>
                <a:latin typeface="Consolas" panose="020B0609020204030204" pitchFamily="49" charset="0"/>
              </a:rPr>
              <a:t>WITH </a:t>
            </a:r>
            <a:r>
              <a:rPr lang="pl-PL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pl-PL" sz="1800" dirty="0">
                <a:solidFill>
                  <a:srgbClr val="0000FF"/>
                </a:solidFill>
                <a:latin typeface="Consolas" panose="020B0609020204030204" pitchFamily="49" charset="0"/>
              </a:rPr>
              <a:t>ONLINE</a:t>
            </a:r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l-PL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l-PL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pl-PL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pl-PL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pl-PL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l-PL" sz="1800" dirty="0">
                <a:solidFill>
                  <a:srgbClr val="008000"/>
                </a:solidFill>
                <a:latin typeface="Consolas" panose="020B0609020204030204" pitchFamily="49" charset="0"/>
              </a:rPr>
              <a:t>--</a:t>
            </a:r>
            <a:r>
              <a:rPr lang="pl-PL" sz="1800" dirty="0" err="1">
                <a:solidFill>
                  <a:srgbClr val="008000"/>
                </a:solidFill>
                <a:latin typeface="Consolas" panose="020B0609020204030204" pitchFamily="49" charset="0"/>
              </a:rPr>
              <a:t>Rebuild</a:t>
            </a:r>
            <a:endParaRPr lang="pl-PL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l-PL" sz="1800" dirty="0">
                <a:solidFill>
                  <a:srgbClr val="0000FF"/>
                </a:solidFill>
                <a:latin typeface="Consolas" panose="020B0609020204030204" pitchFamily="49" charset="0"/>
              </a:rPr>
              <a:t>ALTER</a:t>
            </a:r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l-PL" sz="1800" dirty="0">
                <a:solidFill>
                  <a:srgbClr val="0000FF"/>
                </a:solidFill>
                <a:latin typeface="Consolas" panose="020B0609020204030204" pitchFamily="49" charset="0"/>
              </a:rPr>
              <a:t>INDEX</a:t>
            </a:r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l-PL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IDX_IndexOnline</a:t>
            </a:r>
            <a:endParaRPr lang="pl-PL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l-PL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l-PL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AllData</a:t>
            </a:r>
            <a:endParaRPr lang="pl-PL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l-PL" sz="1800" dirty="0">
                <a:solidFill>
                  <a:srgbClr val="0000FF"/>
                </a:solidFill>
                <a:latin typeface="Consolas" panose="020B0609020204030204" pitchFamily="49" charset="0"/>
              </a:rPr>
              <a:t>REBUILD</a:t>
            </a:r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l-PL" sz="1800" dirty="0">
                <a:solidFill>
                  <a:srgbClr val="0000FF"/>
                </a:solidFill>
                <a:latin typeface="Consolas" panose="020B0609020204030204" pitchFamily="49" charset="0"/>
              </a:rPr>
              <a:t>WITH </a:t>
            </a:r>
            <a:r>
              <a:rPr lang="pl-PL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pl-PL" sz="1800" dirty="0">
                <a:solidFill>
                  <a:srgbClr val="0000FF"/>
                </a:solidFill>
                <a:latin typeface="Consolas" panose="020B0609020204030204" pitchFamily="49" charset="0"/>
              </a:rPr>
              <a:t>ONLINE</a:t>
            </a:r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l-PL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pl-PL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l-PL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pl-PL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7467581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Indeksy online</a:t>
            </a:r>
            <a:br>
              <a:rPr lang="pl-PL" dirty="0"/>
            </a:br>
            <a:r>
              <a:rPr lang="pl-PL" dirty="0"/>
              <a:t>-</a:t>
            </a:r>
            <a:br>
              <a:rPr lang="pl-PL" dirty="0"/>
            </a:br>
            <a:r>
              <a:rPr lang="pl-PL" dirty="0"/>
              <a:t>wady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5243" y="726947"/>
            <a:ext cx="7315200" cy="5344669"/>
          </a:xfrm>
        </p:spPr>
        <p:txBody>
          <a:bodyPr anchor="t">
            <a:normAutofit/>
          </a:bodyPr>
          <a:lstStyle/>
          <a:p>
            <a:pPr>
              <a:lnSpc>
                <a:spcPct val="150000"/>
              </a:lnSpc>
            </a:pPr>
            <a:endParaRPr lang="pl-PL" sz="1600" b="1" dirty="0"/>
          </a:p>
          <a:p>
            <a:pPr>
              <a:lnSpc>
                <a:spcPct val="150000"/>
              </a:lnSpc>
            </a:pPr>
            <a:r>
              <a:rPr lang="pl-PL" sz="1600" b="1" dirty="0"/>
              <a:t>Wyższe zużycie zasobów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100" b="1" dirty="0"/>
              <a:t>Pamięć</a:t>
            </a:r>
            <a:r>
              <a:rPr lang="pl-PL" sz="1100" dirty="0"/>
              <a:t>: Operacje na indeksach online wymagają więcej pamięci, ponieważ SQL Server musi zarządzać jednoczesnym dostępem do tabeli i indeksu. Prowadzi to do wzrostu zapotrzebowania na pamięć RAM, zwłaszcza w przypadku dużych tabel.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100" b="1" dirty="0"/>
              <a:t>Procesor</a:t>
            </a:r>
            <a:r>
              <a:rPr lang="pl-PL" sz="1100" dirty="0"/>
              <a:t>: Tworzenie i odbudowywanie indeksów online może obciążyć procesor bardziej niż operacje offline, ponieważ serwer musi przetwarzać zarówno operacje indeksowania, jak i inne zapytania równocześnie.</a:t>
            </a:r>
          </a:p>
          <a:p>
            <a:r>
              <a:rPr lang="pl-PL" sz="1600" b="1" dirty="0"/>
              <a:t>Dłuższy czas wykonania operacji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100" dirty="0"/>
              <a:t>Operacje online mogą trwać dłużej niż ich odpowiedniki offline, ponieważ SQL Server musi synchronizować zmiany w danych, które zachodzą podczas procesu tworzenia lub odbudowywania indeksu. Wynika to z konieczności obsługi współbieżnych operacji odczytu i zapisu.</a:t>
            </a:r>
          </a:p>
          <a:p>
            <a:r>
              <a:rPr lang="pl-PL" sz="1600" b="1" dirty="0"/>
              <a:t>Krótkotrwałe blokady SCH-M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100" dirty="0"/>
              <a:t>Mimo że indeksy online minimalizują blokady, to na początku i końcu operacji mogą wystąpić krótkotrwałe blokady typu </a:t>
            </a:r>
            <a:r>
              <a:rPr lang="pl-PL" sz="1100" b="1" dirty="0"/>
              <a:t>SCH-M (</a:t>
            </a:r>
            <a:r>
              <a:rPr lang="pl-PL" sz="1100" b="1" dirty="0" err="1"/>
              <a:t>Schema</a:t>
            </a:r>
            <a:r>
              <a:rPr lang="pl-PL" sz="1100" b="1" dirty="0"/>
              <a:t> </a:t>
            </a:r>
            <a:r>
              <a:rPr lang="pl-PL" sz="1100" b="1" dirty="0" err="1"/>
              <a:t>Modification</a:t>
            </a:r>
            <a:r>
              <a:rPr lang="pl-PL" sz="1100" b="1" dirty="0"/>
              <a:t> Lock)</a:t>
            </a:r>
            <a:r>
              <a:rPr lang="pl-PL" sz="1100" dirty="0"/>
              <a:t>, które mogą powodować krótkotrwałe przerwy w dostępie do tabeli. Choć te blokady są zazwyczaj bardzo krótkie, w środowiskach o bardzo wysokiej intensywności pracy mogą mieć negatywny wpływ.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l-PL" sz="1300" dirty="0"/>
          </a:p>
        </p:txBody>
      </p:sp>
    </p:spTree>
    <p:extLst>
      <p:ext uri="{BB962C8B-B14F-4D97-AF65-F5344CB8AC3E}">
        <p14:creationId xmlns:p14="http://schemas.microsoft.com/office/powerpoint/2010/main" val="6116790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06E5A1-8B64-44F0-9F61-990F78D1F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Indeksy online</a:t>
            </a:r>
            <a:br>
              <a:rPr lang="pl-PL" dirty="0"/>
            </a:br>
            <a:r>
              <a:rPr lang="pl-PL" dirty="0"/>
              <a:t>-</a:t>
            </a:r>
            <a:br>
              <a:rPr lang="pl-PL" dirty="0"/>
            </a:br>
            <a:r>
              <a:rPr lang="pl-PL" dirty="0"/>
              <a:t>wady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D8E9BBF-A55D-4C50-9C86-D226AA6FC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5243" y="726947"/>
            <a:ext cx="7315200" cy="5344669"/>
          </a:xfrm>
        </p:spPr>
        <p:txBody>
          <a:bodyPr anchor="t">
            <a:normAutofit/>
          </a:bodyPr>
          <a:lstStyle/>
          <a:p>
            <a:endParaRPr lang="pl-PL" sz="1600" b="1" dirty="0"/>
          </a:p>
          <a:p>
            <a:endParaRPr lang="pl-PL" sz="1600" b="1" dirty="0"/>
          </a:p>
          <a:p>
            <a:endParaRPr lang="pl-PL" sz="1600" b="1" dirty="0"/>
          </a:p>
          <a:p>
            <a:r>
              <a:rPr lang="pl-PL" sz="1600" b="1" dirty="0"/>
              <a:t>Ograniczona dostępność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100" dirty="0"/>
              <a:t>Funkcje indeksów online są dostępne tylko w edycjach SQL Server Enterprise, Developer oraz od wersji SQL Server 2019 częściowo także w edycji Standard.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Wymagania dotyczące pamięci tymczasowej (</a:t>
            </a:r>
            <a:r>
              <a:rPr lang="pl-PL" sz="1600" b="1" dirty="0" err="1"/>
              <a:t>tempdb</a:t>
            </a:r>
            <a:r>
              <a:rPr lang="pl-PL" sz="1600" b="1" dirty="0"/>
              <a:t>)</a:t>
            </a:r>
          </a:p>
          <a:p>
            <a:pPr lvl="1">
              <a:lnSpc>
                <a:spcPct val="150000"/>
              </a:lnSpc>
            </a:pPr>
            <a:r>
              <a:rPr lang="pl-PL" sz="1100" dirty="0"/>
              <a:t>Operacje online często intensywnie korzystają z bazy tymczasowej </a:t>
            </a:r>
            <a:r>
              <a:rPr lang="pl-PL" sz="1100" b="1" dirty="0" err="1"/>
              <a:t>tempdb</a:t>
            </a:r>
            <a:r>
              <a:rPr lang="pl-PL" sz="1100" dirty="0"/>
              <a:t>. W dużych operacjach indeksowania może to prowadzić do przeciążenia </a:t>
            </a:r>
            <a:r>
              <a:rPr lang="pl-PL" sz="1100" dirty="0" err="1"/>
              <a:t>tempdb</a:t>
            </a:r>
            <a:r>
              <a:rPr lang="pl-PL" sz="1100" dirty="0"/>
              <a:t>, zwłaszcza jeśli nie jest ona odpowiednio skonfigurowana pod kątem wielkości i wydajności.</a:t>
            </a:r>
          </a:p>
          <a:p>
            <a:r>
              <a:rPr lang="pl-PL" sz="1600" b="1" dirty="0"/>
              <a:t>Ewentualne problemy z </a:t>
            </a:r>
            <a:r>
              <a:rPr lang="pl-PL" sz="1600" b="1" dirty="0" err="1"/>
              <a:t>TempDB</a:t>
            </a:r>
            <a:endParaRPr lang="pl-PL" sz="1600" b="1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100" dirty="0"/>
              <a:t>W sytuacji, gdy operacje na indeksach online intensywnie korzystają z bazy </a:t>
            </a:r>
            <a:r>
              <a:rPr lang="pl-PL" sz="1100" dirty="0" err="1"/>
              <a:t>tempdb</a:t>
            </a:r>
            <a:r>
              <a:rPr lang="pl-PL" sz="1100" dirty="0"/>
              <a:t>, może dojść do sytuacji, w której </a:t>
            </a:r>
            <a:r>
              <a:rPr lang="pl-PL" sz="1100" dirty="0" err="1"/>
              <a:t>tempdb</a:t>
            </a:r>
            <a:r>
              <a:rPr lang="pl-PL" sz="1100" dirty="0"/>
              <a:t> stanie się wąskim gardłem wydajności, prowadząc do degradacji ogólnej wydajności serwera..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l-PL" sz="1300" dirty="0"/>
          </a:p>
        </p:txBody>
      </p:sp>
    </p:spTree>
    <p:extLst>
      <p:ext uri="{BB962C8B-B14F-4D97-AF65-F5344CB8AC3E}">
        <p14:creationId xmlns:p14="http://schemas.microsoft.com/office/powerpoint/2010/main" val="3149681278"/>
      </p:ext>
    </p:extLst>
  </p:cSld>
  <p:clrMapOvr>
    <a:masterClrMapping/>
  </p:clrMapOvr>
</p:sld>
</file>

<file path=ppt/theme/theme1.xml><?xml version="1.0" encoding="utf-8"?>
<a:theme xmlns:a="http://schemas.openxmlformats.org/drawingml/2006/main" name="Ramka">
  <a:themeElements>
    <a:clrScheme name="Frame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18A1B607-7BAE-46D6-8090-545AC7BDD73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TM03457475[[fn=Ramka]]</Template>
  <TotalTime>3598</TotalTime>
  <Words>2380</Words>
  <Application>Microsoft Office PowerPoint</Application>
  <PresentationFormat>Panoramiczny</PresentationFormat>
  <Paragraphs>202</Paragraphs>
  <Slides>26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26</vt:i4>
      </vt:variant>
    </vt:vector>
  </HeadingPairs>
  <TitlesOfParts>
    <vt:vector size="31" baseType="lpstr">
      <vt:lpstr>Arial</vt:lpstr>
      <vt:lpstr>Consolas</vt:lpstr>
      <vt:lpstr>Corbel</vt:lpstr>
      <vt:lpstr>Wingdings 2</vt:lpstr>
      <vt:lpstr>Ramka</vt:lpstr>
      <vt:lpstr>Wstęp do indeksów </vt:lpstr>
      <vt:lpstr>Strona danych</vt:lpstr>
      <vt:lpstr>Statystyki IO/TIME</vt:lpstr>
      <vt:lpstr>Plan zapytania</vt:lpstr>
      <vt:lpstr>Tabela bez indeksów – sterta(heap)</vt:lpstr>
      <vt:lpstr>Indeks klastrowy</vt:lpstr>
      <vt:lpstr>Indeks klastrowy</vt:lpstr>
      <vt:lpstr>Indeks nieklastrowy</vt:lpstr>
      <vt:lpstr>Różnica</vt:lpstr>
      <vt:lpstr>Indeks filtrujący</vt:lpstr>
      <vt:lpstr>Indeks pokrywający</vt:lpstr>
      <vt:lpstr>Fragmentacja indeksów</vt:lpstr>
      <vt:lpstr>Polecenie SHRINK</vt:lpstr>
      <vt:lpstr>Polecenie SHRINK - rekomendacje</vt:lpstr>
      <vt:lpstr>Widoki systemowe</vt:lpstr>
      <vt:lpstr>DML  vs  indeksy</vt:lpstr>
      <vt:lpstr>DML  vs  indeksy</vt:lpstr>
      <vt:lpstr>DML  vs  indeksy</vt:lpstr>
      <vt:lpstr>DML  vs  indeksy</vt:lpstr>
      <vt:lpstr>Indeksy online</vt:lpstr>
      <vt:lpstr>Indeksy online</vt:lpstr>
      <vt:lpstr>Indeksy online</vt:lpstr>
      <vt:lpstr>Indeksy online - cechy</vt:lpstr>
      <vt:lpstr>Indeksy online - tworzenie i rebuild</vt:lpstr>
      <vt:lpstr>Indeksy online - wady</vt:lpstr>
      <vt:lpstr>Indeksy online - wady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Wstęp do indeksów - SQL Server</dc:title>
  <dc:creator>Przemyslaw Starosta</dc:creator>
  <cp:lastModifiedBy>Przemyslaw Starosta</cp:lastModifiedBy>
  <cp:revision>1</cp:revision>
  <dcterms:created xsi:type="dcterms:W3CDTF">2022-01-27T16:58:23Z</dcterms:created>
  <dcterms:modified xsi:type="dcterms:W3CDTF">2026-10-22T07:59:31Z</dcterms:modified>
</cp:coreProperties>
</file>